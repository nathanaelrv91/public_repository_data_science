
<file path=[Content_Types].xml><?xml version="1.0" encoding="utf-8"?>
<Types xmlns="http://schemas.openxmlformats.org/package/2006/content-types"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27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3C345FB2-7671-4C9A-A9F5-63525465B5F4}" v="331" dt="2025-08-13T01:20:15.769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902" autoAdjust="0"/>
  </p:normalViewPr>
  <p:slideViewPr>
    <p:cSldViewPr snapToGrid="0">
      <p:cViewPr varScale="1">
        <p:scale>
          <a:sx n="70" d="100"/>
          <a:sy n="70" d="100"/>
        </p:scale>
        <p:origin x="1166" y="27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microsoft.com/office/2015/10/relationships/revisionInfo" Target="revisionInfo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microsoft.com/office/2016/11/relationships/changesInfo" Target="changesInfos/changesInfo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notesMaster" Target="notesMasters/notesMaster1.xml"/><Relationship Id="rId30" Type="http://schemas.openxmlformats.org/officeDocument/2006/relationships/theme" Target="theme/theme1.xml"/><Relationship Id="rId8" Type="http://schemas.openxmlformats.org/officeDocument/2006/relationships/slide" Target="slides/slide7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Nate Richardson" userId="bbba0e84335fd452" providerId="LiveId" clId="{3C345FB2-7671-4C9A-A9F5-63525465B5F4}"/>
    <pc:docChg chg="undo custSel addSld modSld sldOrd">
      <pc:chgData name="Nate Richardson" userId="bbba0e84335fd452" providerId="LiveId" clId="{3C345FB2-7671-4C9A-A9F5-63525465B5F4}" dt="2025-08-15T01:27:45.442" v="13611" actId="255"/>
      <pc:docMkLst>
        <pc:docMk/>
      </pc:docMkLst>
      <pc:sldChg chg="addSp modSp mod">
        <pc:chgData name="Nate Richardson" userId="bbba0e84335fd452" providerId="LiveId" clId="{3C345FB2-7671-4C9A-A9F5-63525465B5F4}" dt="2025-08-10T20:58:19.548" v="4209" actId="13926"/>
        <pc:sldMkLst>
          <pc:docMk/>
          <pc:sldMk cId="3440810013" sldId="256"/>
        </pc:sldMkLst>
        <pc:spChg chg="mod">
          <ac:chgData name="Nate Richardson" userId="bbba0e84335fd452" providerId="LiveId" clId="{3C345FB2-7671-4C9A-A9F5-63525465B5F4}" dt="2025-08-10T20:28:08.518" v="2139" actId="1076"/>
          <ac:spMkLst>
            <pc:docMk/>
            <pc:sldMk cId="3440810013" sldId="256"/>
            <ac:spMk id="2" creationId="{3321916D-D042-7EE8-A3B8-FE47A04D9183}"/>
          </ac:spMkLst>
        </pc:spChg>
        <pc:spChg chg="mod">
          <ac:chgData name="Nate Richardson" userId="bbba0e84335fd452" providerId="LiveId" clId="{3C345FB2-7671-4C9A-A9F5-63525465B5F4}" dt="2025-08-10T20:28:13.077" v="2140" actId="1076"/>
          <ac:spMkLst>
            <pc:docMk/>
            <pc:sldMk cId="3440810013" sldId="256"/>
            <ac:spMk id="3" creationId="{4F6D4E86-37EE-F0D7-F4D2-AB311EB0A316}"/>
          </ac:spMkLst>
        </pc:spChg>
        <pc:spChg chg="add mod">
          <ac:chgData name="Nate Richardson" userId="bbba0e84335fd452" providerId="LiveId" clId="{3C345FB2-7671-4C9A-A9F5-63525465B5F4}" dt="2025-08-10T20:58:19.548" v="4209" actId="13926"/>
          <ac:spMkLst>
            <pc:docMk/>
            <pc:sldMk cId="3440810013" sldId="256"/>
            <ac:spMk id="6" creationId="{0766BFAA-E28E-93C3-9E17-0EB8D24C25CA}"/>
          </ac:spMkLst>
        </pc:spChg>
        <pc:picChg chg="add mod ord">
          <ac:chgData name="Nate Richardson" userId="bbba0e84335fd452" providerId="LiveId" clId="{3C345FB2-7671-4C9A-A9F5-63525465B5F4}" dt="2025-08-10T20:28:03.048" v="2138" actId="167"/>
          <ac:picMkLst>
            <pc:docMk/>
            <pc:sldMk cId="3440810013" sldId="256"/>
            <ac:picMk id="5" creationId="{3B921739-69E5-BEBD-D966-B46A9F543B28}"/>
          </ac:picMkLst>
        </pc:picChg>
      </pc:sldChg>
      <pc:sldChg chg="modSp mod setBg">
        <pc:chgData name="Nate Richardson" userId="bbba0e84335fd452" providerId="LiveId" clId="{3C345FB2-7671-4C9A-A9F5-63525465B5F4}" dt="2025-08-10T19:47:02.101" v="343" actId="20577"/>
        <pc:sldMkLst>
          <pc:docMk/>
          <pc:sldMk cId="1141411278" sldId="258"/>
        </pc:sldMkLst>
        <pc:spChg chg="mod">
          <ac:chgData name="Nate Richardson" userId="bbba0e84335fd452" providerId="LiveId" clId="{3C345FB2-7671-4C9A-A9F5-63525465B5F4}" dt="2025-08-10T19:44:53.054" v="145" actId="207"/>
          <ac:spMkLst>
            <pc:docMk/>
            <pc:sldMk cId="1141411278" sldId="258"/>
            <ac:spMk id="2" creationId="{52FEA3EE-0A15-CEF1-F1DE-D69E2A731C15}"/>
          </ac:spMkLst>
        </pc:spChg>
        <pc:spChg chg="mod">
          <ac:chgData name="Nate Richardson" userId="bbba0e84335fd452" providerId="LiveId" clId="{3C345FB2-7671-4C9A-A9F5-63525465B5F4}" dt="2025-08-10T19:47:02.101" v="343" actId="20577"/>
          <ac:spMkLst>
            <pc:docMk/>
            <pc:sldMk cId="1141411278" sldId="258"/>
            <ac:spMk id="3" creationId="{F4F3EC92-3554-7959-5F03-5D28D8C26D1D}"/>
          </ac:spMkLst>
        </pc:spChg>
      </pc:sldChg>
      <pc:sldChg chg="modSp add mod">
        <pc:chgData name="Nate Richardson" userId="bbba0e84335fd452" providerId="LiveId" clId="{3C345FB2-7671-4C9A-A9F5-63525465B5F4}" dt="2025-08-10T20:35:30.894" v="3352" actId="20577"/>
        <pc:sldMkLst>
          <pc:docMk/>
          <pc:sldMk cId="1918576162" sldId="259"/>
        </pc:sldMkLst>
        <pc:spChg chg="mod">
          <ac:chgData name="Nate Richardson" userId="bbba0e84335fd452" providerId="LiveId" clId="{3C345FB2-7671-4C9A-A9F5-63525465B5F4}" dt="2025-08-10T19:57:20.492" v="353" actId="20577"/>
          <ac:spMkLst>
            <pc:docMk/>
            <pc:sldMk cId="1918576162" sldId="259"/>
            <ac:spMk id="2" creationId="{6CF9F032-1249-5DA1-8FA6-E2CD1F083B0E}"/>
          </ac:spMkLst>
        </pc:spChg>
        <pc:spChg chg="mod">
          <ac:chgData name="Nate Richardson" userId="bbba0e84335fd452" providerId="LiveId" clId="{3C345FB2-7671-4C9A-A9F5-63525465B5F4}" dt="2025-08-10T20:35:30.894" v="3352" actId="20577"/>
          <ac:spMkLst>
            <pc:docMk/>
            <pc:sldMk cId="1918576162" sldId="259"/>
            <ac:spMk id="3" creationId="{2358F4E0-ED30-2035-E4AB-05FB6F813953}"/>
          </ac:spMkLst>
        </pc:spChg>
      </pc:sldChg>
      <pc:sldChg chg="modSp add mod">
        <pc:chgData name="Nate Richardson" userId="bbba0e84335fd452" providerId="LiveId" clId="{3C345FB2-7671-4C9A-A9F5-63525465B5F4}" dt="2025-08-10T20:05:09.329" v="1066" actId="20577"/>
        <pc:sldMkLst>
          <pc:docMk/>
          <pc:sldMk cId="2056429154" sldId="260"/>
        </pc:sldMkLst>
        <pc:spChg chg="mod">
          <ac:chgData name="Nate Richardson" userId="bbba0e84335fd452" providerId="LiveId" clId="{3C345FB2-7671-4C9A-A9F5-63525465B5F4}" dt="2025-08-10T20:00:35.105" v="823" actId="20577"/>
          <ac:spMkLst>
            <pc:docMk/>
            <pc:sldMk cId="2056429154" sldId="260"/>
            <ac:spMk id="2" creationId="{335910F7-AE31-5F4A-B5F4-2435C38E5EFB}"/>
          </ac:spMkLst>
        </pc:spChg>
        <pc:spChg chg="mod">
          <ac:chgData name="Nate Richardson" userId="bbba0e84335fd452" providerId="LiveId" clId="{3C345FB2-7671-4C9A-A9F5-63525465B5F4}" dt="2025-08-10T20:05:09.329" v="1066" actId="20577"/>
          <ac:spMkLst>
            <pc:docMk/>
            <pc:sldMk cId="2056429154" sldId="260"/>
            <ac:spMk id="3" creationId="{B864FA5B-9606-EC35-24AC-184905D0A1A5}"/>
          </ac:spMkLst>
        </pc:spChg>
      </pc:sldChg>
      <pc:sldChg chg="addSp delSp modSp new mod setBg">
        <pc:chgData name="Nate Richardson" userId="bbba0e84335fd452" providerId="LiveId" clId="{3C345FB2-7671-4C9A-A9F5-63525465B5F4}" dt="2025-08-10T21:20:54.035" v="5603" actId="242"/>
        <pc:sldMkLst>
          <pc:docMk/>
          <pc:sldMk cId="47138074" sldId="261"/>
        </pc:sldMkLst>
        <pc:spChg chg="mod">
          <ac:chgData name="Nate Richardson" userId="bbba0e84335fd452" providerId="LiveId" clId="{3C345FB2-7671-4C9A-A9F5-63525465B5F4}" dt="2025-08-10T21:20:54.035" v="5603" actId="242"/>
          <ac:spMkLst>
            <pc:docMk/>
            <pc:sldMk cId="47138074" sldId="261"/>
            <ac:spMk id="2" creationId="{AE2AB80C-83DA-7DED-75FF-C0FAE13720B3}"/>
          </ac:spMkLst>
        </pc:spChg>
        <pc:spChg chg="mod">
          <ac:chgData name="Nate Richardson" userId="bbba0e84335fd452" providerId="LiveId" clId="{3C345FB2-7671-4C9A-A9F5-63525465B5F4}" dt="2025-08-10T20:20:15.336" v="2126" actId="20577"/>
          <ac:spMkLst>
            <pc:docMk/>
            <pc:sldMk cId="47138074" sldId="261"/>
            <ac:spMk id="4" creationId="{6AF2073D-618E-DC81-845D-A2F7F4C1A6B2}"/>
          </ac:spMkLst>
        </pc:spChg>
        <pc:picChg chg="add mod">
          <ac:chgData name="Nate Richardson" userId="bbba0e84335fd452" providerId="LiveId" clId="{3C345FB2-7671-4C9A-A9F5-63525465B5F4}" dt="2025-08-10T20:07:37.725" v="1128" actId="1440"/>
          <ac:picMkLst>
            <pc:docMk/>
            <pc:sldMk cId="47138074" sldId="261"/>
            <ac:picMk id="10" creationId="{7CC946B0-2A1A-F0C4-A66E-7BB93771FAA8}"/>
          </ac:picMkLst>
        </pc:picChg>
      </pc:sldChg>
      <pc:sldChg chg="addSp delSp modSp add mod setBg">
        <pc:chgData name="Nate Richardson" userId="bbba0e84335fd452" providerId="LiveId" clId="{3C345FB2-7671-4C9A-A9F5-63525465B5F4}" dt="2025-08-10T20:18:47.432" v="2078" actId="1076"/>
        <pc:sldMkLst>
          <pc:docMk/>
          <pc:sldMk cId="2283786746" sldId="262"/>
        </pc:sldMkLst>
        <pc:spChg chg="mod">
          <ac:chgData name="Nate Richardson" userId="bbba0e84335fd452" providerId="LiveId" clId="{3C345FB2-7671-4C9A-A9F5-63525465B5F4}" dt="2025-08-10T20:14:01.065" v="1796" actId="14100"/>
          <ac:spMkLst>
            <pc:docMk/>
            <pc:sldMk cId="2283786746" sldId="262"/>
            <ac:spMk id="2" creationId="{50864E7E-F5EC-21CE-10AD-B29D3C127332}"/>
          </ac:spMkLst>
        </pc:spChg>
        <pc:spChg chg="mod">
          <ac:chgData name="Nate Richardson" userId="bbba0e84335fd452" providerId="LiveId" clId="{3C345FB2-7671-4C9A-A9F5-63525465B5F4}" dt="2025-08-10T20:17:50.629" v="2062" actId="20577"/>
          <ac:spMkLst>
            <pc:docMk/>
            <pc:sldMk cId="2283786746" sldId="262"/>
            <ac:spMk id="4" creationId="{897C85B5-46BB-4309-6743-A9DA21501D01}"/>
          </ac:spMkLst>
        </pc:spChg>
        <pc:picChg chg="add mod">
          <ac:chgData name="Nate Richardson" userId="bbba0e84335fd452" providerId="LiveId" clId="{3C345FB2-7671-4C9A-A9F5-63525465B5F4}" dt="2025-08-10T20:18:47.432" v="2078" actId="1076"/>
          <ac:picMkLst>
            <pc:docMk/>
            <pc:sldMk cId="2283786746" sldId="262"/>
            <ac:picMk id="5" creationId="{430C2B6C-B230-29D9-CC1C-7B4964246D0D}"/>
          </ac:picMkLst>
        </pc:picChg>
      </pc:sldChg>
      <pc:sldChg chg="addSp delSp modSp add mod setBg">
        <pc:chgData name="Nate Richardson" userId="bbba0e84335fd452" providerId="LiveId" clId="{3C345FB2-7671-4C9A-A9F5-63525465B5F4}" dt="2025-08-10T20:50:42.192" v="3747"/>
        <pc:sldMkLst>
          <pc:docMk/>
          <pc:sldMk cId="1513444786" sldId="263"/>
        </pc:sldMkLst>
        <pc:spChg chg="mod">
          <ac:chgData name="Nate Richardson" userId="bbba0e84335fd452" providerId="LiveId" clId="{3C345FB2-7671-4C9A-A9F5-63525465B5F4}" dt="2025-08-10T20:47:54.430" v="3447" actId="255"/>
          <ac:spMkLst>
            <pc:docMk/>
            <pc:sldMk cId="1513444786" sldId="263"/>
            <ac:spMk id="2" creationId="{C2B89E50-7436-A2ED-438A-B1016538618B}"/>
          </ac:spMkLst>
        </pc:spChg>
        <pc:spChg chg="mod">
          <ac:chgData name="Nate Richardson" userId="bbba0e84335fd452" providerId="LiveId" clId="{3C345FB2-7671-4C9A-A9F5-63525465B5F4}" dt="2025-08-10T20:50:11.636" v="3743" actId="20577"/>
          <ac:spMkLst>
            <pc:docMk/>
            <pc:sldMk cId="1513444786" sldId="263"/>
            <ac:spMk id="4" creationId="{B5789B2A-298A-9566-8BA3-A05B34A32ADC}"/>
          </ac:spMkLst>
        </pc:spChg>
        <pc:picChg chg="add mod">
          <ac:chgData name="Nate Richardson" userId="bbba0e84335fd452" providerId="LiveId" clId="{3C345FB2-7671-4C9A-A9F5-63525465B5F4}" dt="2025-08-10T20:47:24.959" v="3402" actId="1440"/>
          <ac:picMkLst>
            <pc:docMk/>
            <pc:sldMk cId="1513444786" sldId="263"/>
            <ac:picMk id="6" creationId="{8BDCFE2D-9BEF-8E4A-591B-71A04FB80629}"/>
          </ac:picMkLst>
        </pc:picChg>
      </pc:sldChg>
      <pc:sldChg chg="addSp delSp modSp add mod setBg">
        <pc:chgData name="Nate Richardson" userId="bbba0e84335fd452" providerId="LiveId" clId="{3C345FB2-7671-4C9A-A9F5-63525465B5F4}" dt="2025-08-10T20:56:43.894" v="4165" actId="20577"/>
        <pc:sldMkLst>
          <pc:docMk/>
          <pc:sldMk cId="1476695588" sldId="264"/>
        </pc:sldMkLst>
        <pc:spChg chg="mod">
          <ac:chgData name="Nate Richardson" userId="bbba0e84335fd452" providerId="LiveId" clId="{3C345FB2-7671-4C9A-A9F5-63525465B5F4}" dt="2025-08-10T20:52:46.928" v="3784" actId="20577"/>
          <ac:spMkLst>
            <pc:docMk/>
            <pc:sldMk cId="1476695588" sldId="264"/>
            <ac:spMk id="2" creationId="{C6085D60-18EA-2A6E-80F6-167067D37B39}"/>
          </ac:spMkLst>
        </pc:spChg>
        <pc:spChg chg="mod">
          <ac:chgData name="Nate Richardson" userId="bbba0e84335fd452" providerId="LiveId" clId="{3C345FB2-7671-4C9A-A9F5-63525465B5F4}" dt="2025-08-10T20:56:43.894" v="4165" actId="20577"/>
          <ac:spMkLst>
            <pc:docMk/>
            <pc:sldMk cId="1476695588" sldId="264"/>
            <ac:spMk id="4" creationId="{F9825897-4BFB-CC25-FA38-B7FFAC331B79}"/>
          </ac:spMkLst>
        </pc:spChg>
        <pc:picChg chg="add mod">
          <ac:chgData name="Nate Richardson" userId="bbba0e84335fd452" providerId="LiveId" clId="{3C345FB2-7671-4C9A-A9F5-63525465B5F4}" dt="2025-08-10T20:55:57.710" v="4113" actId="1440"/>
          <ac:picMkLst>
            <pc:docMk/>
            <pc:sldMk cId="1476695588" sldId="264"/>
            <ac:picMk id="5" creationId="{3FF0FFE2-1E5B-0E67-E4F0-32793C8F851E}"/>
          </ac:picMkLst>
        </pc:picChg>
      </pc:sldChg>
      <pc:sldChg chg="addSp delSp modSp add mod setBg">
        <pc:chgData name="Nate Richardson" userId="bbba0e84335fd452" providerId="LiveId" clId="{3C345FB2-7671-4C9A-A9F5-63525465B5F4}" dt="2025-08-10T21:05:14.318" v="4689" actId="1440"/>
        <pc:sldMkLst>
          <pc:docMk/>
          <pc:sldMk cId="732832584" sldId="265"/>
        </pc:sldMkLst>
        <pc:spChg chg="mod">
          <ac:chgData name="Nate Richardson" userId="bbba0e84335fd452" providerId="LiveId" clId="{3C345FB2-7671-4C9A-A9F5-63525465B5F4}" dt="2025-08-10T20:58:51.640" v="4255" actId="20577"/>
          <ac:spMkLst>
            <pc:docMk/>
            <pc:sldMk cId="732832584" sldId="265"/>
            <ac:spMk id="2" creationId="{C843F8A0-E8E8-A365-A717-007B59BB9991}"/>
          </ac:spMkLst>
        </pc:spChg>
        <pc:spChg chg="mod">
          <ac:chgData name="Nate Richardson" userId="bbba0e84335fd452" providerId="LiveId" clId="{3C345FB2-7671-4C9A-A9F5-63525465B5F4}" dt="2025-08-10T21:02:46.066" v="4672" actId="20577"/>
          <ac:spMkLst>
            <pc:docMk/>
            <pc:sldMk cId="732832584" sldId="265"/>
            <ac:spMk id="4" creationId="{2F9B7E0E-7782-6265-2470-A06F18EC6650}"/>
          </ac:spMkLst>
        </pc:spChg>
        <pc:picChg chg="add mod">
          <ac:chgData name="Nate Richardson" userId="bbba0e84335fd452" providerId="LiveId" clId="{3C345FB2-7671-4C9A-A9F5-63525465B5F4}" dt="2025-08-10T21:05:14.318" v="4689" actId="1440"/>
          <ac:picMkLst>
            <pc:docMk/>
            <pc:sldMk cId="732832584" sldId="265"/>
            <ac:picMk id="6" creationId="{227D3436-754F-9F68-1C76-0FAD7093F93B}"/>
          </ac:picMkLst>
        </pc:picChg>
      </pc:sldChg>
      <pc:sldChg chg="addSp delSp modSp add mod">
        <pc:chgData name="Nate Richardson" userId="bbba0e84335fd452" providerId="LiveId" clId="{3C345FB2-7671-4C9A-A9F5-63525465B5F4}" dt="2025-08-10T21:12:42.414" v="5098" actId="14100"/>
        <pc:sldMkLst>
          <pc:docMk/>
          <pc:sldMk cId="2689900074" sldId="266"/>
        </pc:sldMkLst>
        <pc:spChg chg="mod">
          <ac:chgData name="Nate Richardson" userId="bbba0e84335fd452" providerId="LiveId" clId="{3C345FB2-7671-4C9A-A9F5-63525465B5F4}" dt="2025-08-10T21:08:08.777" v="4733" actId="20577"/>
          <ac:spMkLst>
            <pc:docMk/>
            <pc:sldMk cId="2689900074" sldId="266"/>
            <ac:spMk id="2" creationId="{B13E5FCD-F9DC-BF63-629B-85FBF7A72D49}"/>
          </ac:spMkLst>
        </pc:spChg>
        <pc:spChg chg="mod">
          <ac:chgData name="Nate Richardson" userId="bbba0e84335fd452" providerId="LiveId" clId="{3C345FB2-7671-4C9A-A9F5-63525465B5F4}" dt="2025-08-10T21:11:09.106" v="5076" actId="20577"/>
          <ac:spMkLst>
            <pc:docMk/>
            <pc:sldMk cId="2689900074" sldId="266"/>
            <ac:spMk id="4" creationId="{F835FA76-7AF9-0A5E-9C77-21926990D392}"/>
          </ac:spMkLst>
        </pc:spChg>
        <pc:picChg chg="add mod">
          <ac:chgData name="Nate Richardson" userId="bbba0e84335fd452" providerId="LiveId" clId="{3C345FB2-7671-4C9A-A9F5-63525465B5F4}" dt="2025-08-10T21:12:42.414" v="5098" actId="14100"/>
          <ac:picMkLst>
            <pc:docMk/>
            <pc:sldMk cId="2689900074" sldId="266"/>
            <ac:picMk id="8" creationId="{56D8E4F7-F60D-F37C-E0E0-661B1D318F86}"/>
          </ac:picMkLst>
        </pc:picChg>
      </pc:sldChg>
      <pc:sldChg chg="addSp delSp modSp add mod setBg">
        <pc:chgData name="Nate Richardson" userId="bbba0e84335fd452" providerId="LiveId" clId="{3C345FB2-7671-4C9A-A9F5-63525465B5F4}" dt="2025-08-10T21:18:05.459" v="5537" actId="14100"/>
        <pc:sldMkLst>
          <pc:docMk/>
          <pc:sldMk cId="1607061803" sldId="267"/>
        </pc:sldMkLst>
        <pc:spChg chg="mod">
          <ac:chgData name="Nate Richardson" userId="bbba0e84335fd452" providerId="LiveId" clId="{3C345FB2-7671-4C9A-A9F5-63525465B5F4}" dt="2025-08-10T21:13:03.594" v="5129" actId="20577"/>
          <ac:spMkLst>
            <pc:docMk/>
            <pc:sldMk cId="1607061803" sldId="267"/>
            <ac:spMk id="2" creationId="{FFB5C277-84BE-A71C-B16E-3C05EF706045}"/>
          </ac:spMkLst>
        </pc:spChg>
        <pc:spChg chg="mod">
          <ac:chgData name="Nate Richardson" userId="bbba0e84335fd452" providerId="LiveId" clId="{3C345FB2-7671-4C9A-A9F5-63525465B5F4}" dt="2025-08-10T21:18:05.459" v="5537" actId="14100"/>
          <ac:spMkLst>
            <pc:docMk/>
            <pc:sldMk cId="1607061803" sldId="267"/>
            <ac:spMk id="4" creationId="{1CD15076-715F-EE9F-E493-400504C8D527}"/>
          </ac:spMkLst>
        </pc:spChg>
        <pc:picChg chg="add mod">
          <ac:chgData name="Nate Richardson" userId="bbba0e84335fd452" providerId="LiveId" clId="{3C345FB2-7671-4C9A-A9F5-63525465B5F4}" dt="2025-08-10T21:16:41.047" v="5205" actId="1076"/>
          <ac:picMkLst>
            <pc:docMk/>
            <pc:sldMk cId="1607061803" sldId="267"/>
            <ac:picMk id="5" creationId="{FF85CB1F-8C48-E6FB-1138-253627CA3FF0}"/>
          </ac:picMkLst>
        </pc:picChg>
      </pc:sldChg>
      <pc:sldChg chg="addSp delSp modSp add mod setBg">
        <pc:chgData name="Nate Richardson" userId="bbba0e84335fd452" providerId="LiveId" clId="{3C345FB2-7671-4C9A-A9F5-63525465B5F4}" dt="2025-08-10T21:23:31.339" v="6016" actId="20577"/>
        <pc:sldMkLst>
          <pc:docMk/>
          <pc:sldMk cId="4269121480" sldId="268"/>
        </pc:sldMkLst>
        <pc:spChg chg="mod">
          <ac:chgData name="Nate Richardson" userId="bbba0e84335fd452" providerId="LiveId" clId="{3C345FB2-7671-4C9A-A9F5-63525465B5F4}" dt="2025-08-10T21:18:40.932" v="5573" actId="20577"/>
          <ac:spMkLst>
            <pc:docMk/>
            <pc:sldMk cId="4269121480" sldId="268"/>
            <ac:spMk id="2" creationId="{0D733C4D-073B-171D-D498-5C45F90CB680}"/>
          </ac:spMkLst>
        </pc:spChg>
        <pc:spChg chg="mod">
          <ac:chgData name="Nate Richardson" userId="bbba0e84335fd452" providerId="LiveId" clId="{3C345FB2-7671-4C9A-A9F5-63525465B5F4}" dt="2025-08-10T21:23:31.339" v="6016" actId="20577"/>
          <ac:spMkLst>
            <pc:docMk/>
            <pc:sldMk cId="4269121480" sldId="268"/>
            <ac:spMk id="4" creationId="{D1E57E01-ACDB-EFB3-E9BC-31B1F39E89FF}"/>
          </ac:spMkLst>
        </pc:spChg>
        <pc:picChg chg="add mod">
          <ac:chgData name="Nate Richardson" userId="bbba0e84335fd452" providerId="LiveId" clId="{3C345FB2-7671-4C9A-A9F5-63525465B5F4}" dt="2025-08-10T21:20:12.346" v="5599" actId="14100"/>
          <ac:picMkLst>
            <pc:docMk/>
            <pc:sldMk cId="4269121480" sldId="268"/>
            <ac:picMk id="8" creationId="{745D0593-6A44-1541-91AE-BDD48676BBFE}"/>
          </ac:picMkLst>
        </pc:picChg>
      </pc:sldChg>
      <pc:sldChg chg="addSp delSp modSp add mod setBg">
        <pc:chgData name="Nate Richardson" userId="bbba0e84335fd452" providerId="LiveId" clId="{3C345FB2-7671-4C9A-A9F5-63525465B5F4}" dt="2025-08-10T21:27:16.580" v="6481" actId="20577"/>
        <pc:sldMkLst>
          <pc:docMk/>
          <pc:sldMk cId="3105091171" sldId="269"/>
        </pc:sldMkLst>
        <pc:spChg chg="mod">
          <ac:chgData name="Nate Richardson" userId="bbba0e84335fd452" providerId="LiveId" clId="{3C345FB2-7671-4C9A-A9F5-63525465B5F4}" dt="2025-08-10T21:25:26.550" v="6039" actId="14100"/>
          <ac:spMkLst>
            <pc:docMk/>
            <pc:sldMk cId="3105091171" sldId="269"/>
            <ac:spMk id="2" creationId="{37E149A7-A593-0B1B-B0B2-AC22ABF873E3}"/>
          </ac:spMkLst>
        </pc:spChg>
        <pc:spChg chg="mod">
          <ac:chgData name="Nate Richardson" userId="bbba0e84335fd452" providerId="LiveId" clId="{3C345FB2-7671-4C9A-A9F5-63525465B5F4}" dt="2025-08-10T21:27:16.580" v="6481" actId="20577"/>
          <ac:spMkLst>
            <pc:docMk/>
            <pc:sldMk cId="3105091171" sldId="269"/>
            <ac:spMk id="4" creationId="{BAC3B6E6-8F77-CE40-C142-4609C4134AFD}"/>
          </ac:spMkLst>
        </pc:spChg>
        <pc:picChg chg="add mod">
          <ac:chgData name="Nate Richardson" userId="bbba0e84335fd452" providerId="LiveId" clId="{3C345FB2-7671-4C9A-A9F5-63525465B5F4}" dt="2025-08-10T21:25:18.442" v="6038" actId="1440"/>
          <ac:picMkLst>
            <pc:docMk/>
            <pc:sldMk cId="3105091171" sldId="269"/>
            <ac:picMk id="7" creationId="{A67AF0A2-5115-9F12-0815-5F06CEC3EC23}"/>
          </ac:picMkLst>
        </pc:picChg>
      </pc:sldChg>
      <pc:sldChg chg="addSp delSp modSp add mod setBg">
        <pc:chgData name="Nate Richardson" userId="bbba0e84335fd452" providerId="LiveId" clId="{3C345FB2-7671-4C9A-A9F5-63525465B5F4}" dt="2025-08-10T21:32:59.667" v="6923" actId="20577"/>
        <pc:sldMkLst>
          <pc:docMk/>
          <pc:sldMk cId="2725087349" sldId="270"/>
        </pc:sldMkLst>
        <pc:spChg chg="mod">
          <ac:chgData name="Nate Richardson" userId="bbba0e84335fd452" providerId="LiveId" clId="{3C345FB2-7671-4C9A-A9F5-63525465B5F4}" dt="2025-08-10T21:28:04.959" v="6521" actId="20577"/>
          <ac:spMkLst>
            <pc:docMk/>
            <pc:sldMk cId="2725087349" sldId="270"/>
            <ac:spMk id="2" creationId="{1951010D-A635-AB5E-37A3-EF2DB3099139}"/>
          </ac:spMkLst>
        </pc:spChg>
        <pc:spChg chg="mod">
          <ac:chgData name="Nate Richardson" userId="bbba0e84335fd452" providerId="LiveId" clId="{3C345FB2-7671-4C9A-A9F5-63525465B5F4}" dt="2025-08-10T21:32:59.667" v="6923" actId="20577"/>
          <ac:spMkLst>
            <pc:docMk/>
            <pc:sldMk cId="2725087349" sldId="270"/>
            <ac:spMk id="4" creationId="{5B05F300-84BB-CD87-A6B0-B128E3D923D3}"/>
          </ac:spMkLst>
        </pc:spChg>
        <pc:picChg chg="add mod">
          <ac:chgData name="Nate Richardson" userId="bbba0e84335fd452" providerId="LiveId" clId="{3C345FB2-7671-4C9A-A9F5-63525465B5F4}" dt="2025-08-10T21:30:25.727" v="6551" actId="1440"/>
          <ac:picMkLst>
            <pc:docMk/>
            <pc:sldMk cId="2725087349" sldId="270"/>
            <ac:picMk id="8" creationId="{D75E1602-E967-611C-F9ED-2AD6B711189C}"/>
          </ac:picMkLst>
        </pc:picChg>
      </pc:sldChg>
      <pc:sldChg chg="addSp delSp modSp add mod setBg">
        <pc:chgData name="Nate Richardson" userId="bbba0e84335fd452" providerId="LiveId" clId="{3C345FB2-7671-4C9A-A9F5-63525465B5F4}" dt="2025-08-13T00:29:26.111" v="7535" actId="1440"/>
        <pc:sldMkLst>
          <pc:docMk/>
          <pc:sldMk cId="2461516927" sldId="271"/>
        </pc:sldMkLst>
        <pc:spChg chg="mod">
          <ac:chgData name="Nate Richardson" userId="bbba0e84335fd452" providerId="LiveId" clId="{3C345FB2-7671-4C9A-A9F5-63525465B5F4}" dt="2025-08-13T00:25:23.361" v="6967" actId="20577"/>
          <ac:spMkLst>
            <pc:docMk/>
            <pc:sldMk cId="2461516927" sldId="271"/>
            <ac:spMk id="2" creationId="{46A1B3F1-3D23-9151-72F8-B44A00CCA461}"/>
          </ac:spMkLst>
        </pc:spChg>
        <pc:spChg chg="mod">
          <ac:chgData name="Nate Richardson" userId="bbba0e84335fd452" providerId="LiveId" clId="{3C345FB2-7671-4C9A-A9F5-63525465B5F4}" dt="2025-08-13T00:27:38.816" v="7496" actId="20577"/>
          <ac:spMkLst>
            <pc:docMk/>
            <pc:sldMk cId="2461516927" sldId="271"/>
            <ac:spMk id="4" creationId="{67EFAD99-B2E5-FFAD-9A6A-7EC49EDBA92D}"/>
          </ac:spMkLst>
        </pc:spChg>
        <pc:picChg chg="add mod">
          <ac:chgData name="Nate Richardson" userId="bbba0e84335fd452" providerId="LiveId" clId="{3C345FB2-7671-4C9A-A9F5-63525465B5F4}" dt="2025-08-13T00:29:26.111" v="7535" actId="1440"/>
          <ac:picMkLst>
            <pc:docMk/>
            <pc:sldMk cId="2461516927" sldId="271"/>
            <ac:picMk id="5" creationId="{1D5F1C1D-88F6-B53E-630F-9CDDD9211236}"/>
          </ac:picMkLst>
        </pc:picChg>
      </pc:sldChg>
      <pc:sldChg chg="addSp delSp modSp add mod setBg">
        <pc:chgData name="Nate Richardson" userId="bbba0e84335fd452" providerId="LiveId" clId="{3C345FB2-7671-4C9A-A9F5-63525465B5F4}" dt="2025-08-13T00:34:55.346" v="8215" actId="20577"/>
        <pc:sldMkLst>
          <pc:docMk/>
          <pc:sldMk cId="1486230919" sldId="272"/>
        </pc:sldMkLst>
        <pc:spChg chg="mod">
          <ac:chgData name="Nate Richardson" userId="bbba0e84335fd452" providerId="LiveId" clId="{3C345FB2-7671-4C9A-A9F5-63525465B5F4}" dt="2025-08-13T00:29:56.749" v="7582" actId="20577"/>
          <ac:spMkLst>
            <pc:docMk/>
            <pc:sldMk cId="1486230919" sldId="272"/>
            <ac:spMk id="2" creationId="{1482ABAF-A1F9-F930-2D17-810F60654053}"/>
          </ac:spMkLst>
        </pc:spChg>
        <pc:spChg chg="mod">
          <ac:chgData name="Nate Richardson" userId="bbba0e84335fd452" providerId="LiveId" clId="{3C345FB2-7671-4C9A-A9F5-63525465B5F4}" dt="2025-08-13T00:34:55.346" v="8215" actId="20577"/>
          <ac:spMkLst>
            <pc:docMk/>
            <pc:sldMk cId="1486230919" sldId="272"/>
            <ac:spMk id="4" creationId="{546E8ED9-D97E-1BAF-214E-34439895B785}"/>
          </ac:spMkLst>
        </pc:spChg>
        <pc:picChg chg="add mod">
          <ac:chgData name="Nate Richardson" userId="bbba0e84335fd452" providerId="LiveId" clId="{3C345FB2-7671-4C9A-A9F5-63525465B5F4}" dt="2025-08-13T00:32:23.043" v="7604" actId="1440"/>
          <ac:picMkLst>
            <pc:docMk/>
            <pc:sldMk cId="1486230919" sldId="272"/>
            <ac:picMk id="6" creationId="{785A7BC7-EBE4-4392-2F1C-B048E9D1D721}"/>
          </ac:picMkLst>
        </pc:picChg>
      </pc:sldChg>
      <pc:sldChg chg="addSp delSp modSp add mod setBg">
        <pc:chgData name="Nate Richardson" userId="bbba0e84335fd452" providerId="LiveId" clId="{3C345FB2-7671-4C9A-A9F5-63525465B5F4}" dt="2025-08-13T00:39:35.273" v="8873" actId="20577"/>
        <pc:sldMkLst>
          <pc:docMk/>
          <pc:sldMk cId="726034226" sldId="273"/>
        </pc:sldMkLst>
        <pc:spChg chg="mod">
          <ac:chgData name="Nate Richardson" userId="bbba0e84335fd452" providerId="LiveId" clId="{3C345FB2-7671-4C9A-A9F5-63525465B5F4}" dt="2025-08-13T00:35:48.421" v="8260" actId="20577"/>
          <ac:spMkLst>
            <pc:docMk/>
            <pc:sldMk cId="726034226" sldId="273"/>
            <ac:spMk id="2" creationId="{90FB7307-6F3F-1749-51BF-1891B081DAEA}"/>
          </ac:spMkLst>
        </pc:spChg>
        <pc:spChg chg="mod">
          <ac:chgData name="Nate Richardson" userId="bbba0e84335fd452" providerId="LiveId" clId="{3C345FB2-7671-4C9A-A9F5-63525465B5F4}" dt="2025-08-13T00:39:35.273" v="8873" actId="20577"/>
          <ac:spMkLst>
            <pc:docMk/>
            <pc:sldMk cId="726034226" sldId="273"/>
            <ac:spMk id="4" creationId="{5C440E2E-4863-97D6-DFE7-3046C770CC80}"/>
          </ac:spMkLst>
        </pc:spChg>
        <pc:picChg chg="add mod">
          <ac:chgData name="Nate Richardson" userId="bbba0e84335fd452" providerId="LiveId" clId="{3C345FB2-7671-4C9A-A9F5-63525465B5F4}" dt="2025-08-13T00:36:45.750" v="8274" actId="1440"/>
          <ac:picMkLst>
            <pc:docMk/>
            <pc:sldMk cId="726034226" sldId="273"/>
            <ac:picMk id="5" creationId="{39D4E6BC-322D-4D6C-947B-D68BFBA93128}"/>
          </ac:picMkLst>
        </pc:picChg>
      </pc:sldChg>
      <pc:sldChg chg="addSp delSp modSp add mod setBg">
        <pc:chgData name="Nate Richardson" userId="bbba0e84335fd452" providerId="LiveId" clId="{3C345FB2-7671-4C9A-A9F5-63525465B5F4}" dt="2025-08-13T00:45:01.790" v="9386" actId="20577"/>
        <pc:sldMkLst>
          <pc:docMk/>
          <pc:sldMk cId="993977237" sldId="274"/>
        </pc:sldMkLst>
        <pc:spChg chg="mod">
          <ac:chgData name="Nate Richardson" userId="bbba0e84335fd452" providerId="LiveId" clId="{3C345FB2-7671-4C9A-A9F5-63525465B5F4}" dt="2025-08-13T00:40:46.090" v="9135" actId="20577"/>
          <ac:spMkLst>
            <pc:docMk/>
            <pc:sldMk cId="993977237" sldId="274"/>
            <ac:spMk id="2" creationId="{C61EC3C1-480B-6C56-ABC2-8DC1D05F01B1}"/>
          </ac:spMkLst>
        </pc:spChg>
        <pc:spChg chg="mod">
          <ac:chgData name="Nate Richardson" userId="bbba0e84335fd452" providerId="LiveId" clId="{3C345FB2-7671-4C9A-A9F5-63525465B5F4}" dt="2025-08-13T00:45:01.790" v="9386" actId="20577"/>
          <ac:spMkLst>
            <pc:docMk/>
            <pc:sldMk cId="993977237" sldId="274"/>
            <ac:spMk id="4" creationId="{3B8DD9FB-E210-0BD8-2407-E940A6F40699}"/>
          </ac:spMkLst>
        </pc:spChg>
        <pc:picChg chg="add mod">
          <ac:chgData name="Nate Richardson" userId="bbba0e84335fd452" providerId="LiveId" clId="{3C345FB2-7671-4C9A-A9F5-63525465B5F4}" dt="2025-08-13T00:43:44.451" v="9293" actId="1076"/>
          <ac:picMkLst>
            <pc:docMk/>
            <pc:sldMk cId="993977237" sldId="274"/>
            <ac:picMk id="6" creationId="{31E6296F-95C0-CE9D-02A8-2CAFFB35FFCB}"/>
          </ac:picMkLst>
        </pc:picChg>
      </pc:sldChg>
      <pc:sldChg chg="addSp delSp modSp add mod setBg">
        <pc:chgData name="Nate Richardson" userId="bbba0e84335fd452" providerId="LiveId" clId="{3C345FB2-7671-4C9A-A9F5-63525465B5F4}" dt="2025-08-13T00:49:54.090" v="9904" actId="20577"/>
        <pc:sldMkLst>
          <pc:docMk/>
          <pc:sldMk cId="1579368580" sldId="275"/>
        </pc:sldMkLst>
        <pc:spChg chg="mod">
          <ac:chgData name="Nate Richardson" userId="bbba0e84335fd452" providerId="LiveId" clId="{3C345FB2-7671-4C9A-A9F5-63525465B5F4}" dt="2025-08-13T00:45:33.321" v="9421" actId="20577"/>
          <ac:spMkLst>
            <pc:docMk/>
            <pc:sldMk cId="1579368580" sldId="275"/>
            <ac:spMk id="2" creationId="{231A7E1D-B15E-3FD1-44C8-C271312F070C}"/>
          </ac:spMkLst>
        </pc:spChg>
        <pc:spChg chg="mod">
          <ac:chgData name="Nate Richardson" userId="bbba0e84335fd452" providerId="LiveId" clId="{3C345FB2-7671-4C9A-A9F5-63525465B5F4}" dt="2025-08-13T00:49:54.090" v="9904" actId="20577"/>
          <ac:spMkLst>
            <pc:docMk/>
            <pc:sldMk cId="1579368580" sldId="275"/>
            <ac:spMk id="4" creationId="{D078DA7A-C823-084B-52D8-227800AA13A8}"/>
          </ac:spMkLst>
        </pc:spChg>
        <pc:picChg chg="add mod">
          <ac:chgData name="Nate Richardson" userId="bbba0e84335fd452" providerId="LiveId" clId="{3C345FB2-7671-4C9A-A9F5-63525465B5F4}" dt="2025-08-13T00:47:08.098" v="9431" actId="1440"/>
          <ac:picMkLst>
            <pc:docMk/>
            <pc:sldMk cId="1579368580" sldId="275"/>
            <ac:picMk id="5" creationId="{5948DAA9-402F-2428-F60D-4C71C9FC25DD}"/>
          </ac:picMkLst>
        </pc:picChg>
      </pc:sldChg>
      <pc:sldChg chg="addSp delSp modSp add mod setBg">
        <pc:chgData name="Nate Richardson" userId="bbba0e84335fd452" providerId="LiveId" clId="{3C345FB2-7671-4C9A-A9F5-63525465B5F4}" dt="2025-08-13T00:56:21.697" v="10661" actId="20577"/>
        <pc:sldMkLst>
          <pc:docMk/>
          <pc:sldMk cId="1366733127" sldId="276"/>
        </pc:sldMkLst>
        <pc:spChg chg="mod">
          <ac:chgData name="Nate Richardson" userId="bbba0e84335fd452" providerId="LiveId" clId="{3C345FB2-7671-4C9A-A9F5-63525465B5F4}" dt="2025-08-13T00:55:52.614" v="10646" actId="20577"/>
          <ac:spMkLst>
            <pc:docMk/>
            <pc:sldMk cId="1366733127" sldId="276"/>
            <ac:spMk id="2" creationId="{3201A9A6-5DD9-2F07-6F00-8F13F4128DC3}"/>
          </ac:spMkLst>
        </pc:spChg>
        <pc:spChg chg="mod">
          <ac:chgData name="Nate Richardson" userId="bbba0e84335fd452" providerId="LiveId" clId="{3C345FB2-7671-4C9A-A9F5-63525465B5F4}" dt="2025-08-13T00:56:21.697" v="10661" actId="20577"/>
          <ac:spMkLst>
            <pc:docMk/>
            <pc:sldMk cId="1366733127" sldId="276"/>
            <ac:spMk id="4" creationId="{3E10242B-FD59-0FBD-40E8-0B1BC079CD88}"/>
          </ac:spMkLst>
        </pc:spChg>
        <pc:picChg chg="add mod">
          <ac:chgData name="Nate Richardson" userId="bbba0e84335fd452" providerId="LiveId" clId="{3C345FB2-7671-4C9A-A9F5-63525465B5F4}" dt="2025-08-13T00:52:38.765" v="9988" actId="1440"/>
          <ac:picMkLst>
            <pc:docMk/>
            <pc:sldMk cId="1366733127" sldId="276"/>
            <ac:picMk id="6" creationId="{F1066426-FFFF-CC18-0A49-30419432BB66}"/>
          </ac:picMkLst>
        </pc:picChg>
      </pc:sldChg>
      <pc:sldChg chg="addSp delSp modSp add mod setBg">
        <pc:chgData name="Nate Richardson" userId="bbba0e84335fd452" providerId="LiveId" clId="{3C345FB2-7671-4C9A-A9F5-63525465B5F4}" dt="2025-08-13T01:02:06.834" v="11236" actId="1440"/>
        <pc:sldMkLst>
          <pc:docMk/>
          <pc:sldMk cId="2402394819" sldId="277"/>
        </pc:sldMkLst>
        <pc:spChg chg="mod">
          <ac:chgData name="Nate Richardson" userId="bbba0e84335fd452" providerId="LiveId" clId="{3C345FB2-7671-4C9A-A9F5-63525465B5F4}" dt="2025-08-13T00:58:20.658" v="10737" actId="207"/>
          <ac:spMkLst>
            <pc:docMk/>
            <pc:sldMk cId="2402394819" sldId="277"/>
            <ac:spMk id="2" creationId="{5B4B2626-5AAF-9B1A-88DD-4BDF553AABE2}"/>
          </ac:spMkLst>
        </pc:spChg>
        <pc:spChg chg="mod">
          <ac:chgData name="Nate Richardson" userId="bbba0e84335fd452" providerId="LiveId" clId="{3C345FB2-7671-4C9A-A9F5-63525465B5F4}" dt="2025-08-13T01:01:00.729" v="11225" actId="20577"/>
          <ac:spMkLst>
            <pc:docMk/>
            <pc:sldMk cId="2402394819" sldId="277"/>
            <ac:spMk id="4" creationId="{1179BE71-F64D-AEDF-7E23-3AD4F22C4880}"/>
          </ac:spMkLst>
        </pc:spChg>
        <pc:picChg chg="add mod">
          <ac:chgData name="Nate Richardson" userId="bbba0e84335fd452" providerId="LiveId" clId="{3C345FB2-7671-4C9A-A9F5-63525465B5F4}" dt="2025-08-13T01:02:06.834" v="11236" actId="1440"/>
          <ac:picMkLst>
            <pc:docMk/>
            <pc:sldMk cId="2402394819" sldId="277"/>
            <ac:picMk id="5" creationId="{D4F64A61-5172-70AC-C42F-113F637A0F88}"/>
          </ac:picMkLst>
        </pc:picChg>
      </pc:sldChg>
      <pc:sldChg chg="addSp delSp modSp add mod ord setBg">
        <pc:chgData name="Nate Richardson" userId="bbba0e84335fd452" providerId="LiveId" clId="{3C345FB2-7671-4C9A-A9F5-63525465B5F4}" dt="2025-08-13T01:18:05.435" v="11782" actId="1036"/>
        <pc:sldMkLst>
          <pc:docMk/>
          <pc:sldMk cId="2704900884" sldId="278"/>
        </pc:sldMkLst>
        <pc:spChg chg="mod">
          <ac:chgData name="Nate Richardson" userId="bbba0e84335fd452" providerId="LiveId" clId="{3C345FB2-7671-4C9A-A9F5-63525465B5F4}" dt="2025-08-13T01:16:13.914" v="11765" actId="207"/>
          <ac:spMkLst>
            <pc:docMk/>
            <pc:sldMk cId="2704900884" sldId="278"/>
            <ac:spMk id="2" creationId="{F76F77EB-DCA6-3F92-31BA-4729D0B08A9D}"/>
          </ac:spMkLst>
        </pc:spChg>
        <pc:spChg chg="mod">
          <ac:chgData name="Nate Richardson" userId="bbba0e84335fd452" providerId="LiveId" clId="{3C345FB2-7671-4C9A-A9F5-63525465B5F4}" dt="2025-08-13T01:16:10.345" v="11764" actId="207"/>
          <ac:spMkLst>
            <pc:docMk/>
            <pc:sldMk cId="2704900884" sldId="278"/>
            <ac:spMk id="4" creationId="{09E45210-79D3-3FE0-66F5-3C9509B9C07E}"/>
          </ac:spMkLst>
        </pc:spChg>
        <pc:picChg chg="add mod">
          <ac:chgData name="Nate Richardson" userId="bbba0e84335fd452" providerId="LiveId" clId="{3C345FB2-7671-4C9A-A9F5-63525465B5F4}" dt="2025-08-13T01:18:05.435" v="11782" actId="1036"/>
          <ac:picMkLst>
            <pc:docMk/>
            <pc:sldMk cId="2704900884" sldId="278"/>
            <ac:picMk id="8" creationId="{D98C3222-C32D-4A5C-3330-0A897B8D962F}"/>
          </ac:picMkLst>
        </pc:picChg>
      </pc:sldChg>
      <pc:sldChg chg="addSp delSp modSp add mod setBg">
        <pc:chgData name="Nate Richardson" userId="bbba0e84335fd452" providerId="LiveId" clId="{3C345FB2-7671-4C9A-A9F5-63525465B5F4}" dt="2025-08-15T01:15:56.310" v="13218" actId="20577"/>
        <pc:sldMkLst>
          <pc:docMk/>
          <pc:sldMk cId="1036092240" sldId="279"/>
        </pc:sldMkLst>
        <pc:spChg chg="mod">
          <ac:chgData name="Nate Richardson" userId="bbba0e84335fd452" providerId="LiveId" clId="{3C345FB2-7671-4C9A-A9F5-63525465B5F4}" dt="2025-08-15T01:01:36.484" v="12500" actId="14100"/>
          <ac:spMkLst>
            <pc:docMk/>
            <pc:sldMk cId="1036092240" sldId="279"/>
            <ac:spMk id="2" creationId="{601C4CB3-78A3-58DD-C29D-C1254AED8F0E}"/>
          </ac:spMkLst>
        </pc:spChg>
        <pc:spChg chg="mod">
          <ac:chgData name="Nate Richardson" userId="bbba0e84335fd452" providerId="LiveId" clId="{3C345FB2-7671-4C9A-A9F5-63525465B5F4}" dt="2025-08-15T01:15:56.310" v="13218" actId="20577"/>
          <ac:spMkLst>
            <pc:docMk/>
            <pc:sldMk cId="1036092240" sldId="279"/>
            <ac:spMk id="4" creationId="{FF72DD00-B73E-C624-AFB3-DA1E8483B7DE}"/>
          </ac:spMkLst>
        </pc:spChg>
        <pc:spChg chg="add del mod">
          <ac:chgData name="Nate Richardson" userId="bbba0e84335fd452" providerId="LiveId" clId="{3C345FB2-7671-4C9A-A9F5-63525465B5F4}" dt="2025-08-15T01:01:31.152" v="12499" actId="478"/>
          <ac:spMkLst>
            <pc:docMk/>
            <pc:sldMk cId="1036092240" sldId="279"/>
            <ac:spMk id="5" creationId="{3753E7A8-314B-31E4-BB03-44D0D810629B}"/>
          </ac:spMkLst>
        </pc:spChg>
        <pc:picChg chg="add del mod">
          <ac:chgData name="Nate Richardson" userId="bbba0e84335fd452" providerId="LiveId" clId="{3C345FB2-7671-4C9A-A9F5-63525465B5F4}" dt="2025-08-15T01:03:07.068" v="12577" actId="478"/>
          <ac:picMkLst>
            <pc:docMk/>
            <pc:sldMk cId="1036092240" sldId="279"/>
            <ac:picMk id="3" creationId="{55C9A28E-3DAE-0ABA-1FA2-B2EB481570E8}"/>
          </ac:picMkLst>
        </pc:picChg>
      </pc:sldChg>
      <pc:sldChg chg="modSp add mod">
        <pc:chgData name="Nate Richardson" userId="bbba0e84335fd452" providerId="LiveId" clId="{3C345FB2-7671-4C9A-A9F5-63525465B5F4}" dt="2025-08-15T01:27:45.442" v="13611" actId="255"/>
        <pc:sldMkLst>
          <pc:docMk/>
          <pc:sldMk cId="4229547756" sldId="280"/>
        </pc:sldMkLst>
        <pc:spChg chg="mod">
          <ac:chgData name="Nate Richardson" userId="bbba0e84335fd452" providerId="LiveId" clId="{3C345FB2-7671-4C9A-A9F5-63525465B5F4}" dt="2025-08-15T01:10:45.466" v="13008" actId="20577"/>
          <ac:spMkLst>
            <pc:docMk/>
            <pc:sldMk cId="4229547756" sldId="280"/>
            <ac:spMk id="2" creationId="{EE53C989-4594-22AA-450F-7ACA1A4A9BA6}"/>
          </ac:spMkLst>
        </pc:spChg>
        <pc:spChg chg="mod">
          <ac:chgData name="Nate Richardson" userId="bbba0e84335fd452" providerId="LiveId" clId="{3C345FB2-7671-4C9A-A9F5-63525465B5F4}" dt="2025-08-15T01:27:45.442" v="13611" actId="255"/>
          <ac:spMkLst>
            <pc:docMk/>
            <pc:sldMk cId="4229547756" sldId="280"/>
            <ac:spMk id="4" creationId="{EC2DAAB2-9CD0-F745-2EAF-5D12770116E5}"/>
          </ac:spMkLst>
        </pc:sp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279691C-C423-4F72-BECD-F4374C05DE26}" type="datetimeFigureOut">
              <a:rPr lang="en-US" smtClean="0"/>
              <a:t>8/14/2025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F4CF042-4D55-46E3-919F-9D5E5868897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2134354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F4CF042-4D55-46E3-919F-9D5E58688974}" type="slidenum">
              <a:rPr lang="en-US" smtClean="0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00977688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D64D74C-1637-2766-9291-0D6FFC6F6AB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270AAF06-2D12-9196-3463-F4FD443C7F8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8DF70304-AC74-E54E-03ED-149CE531F27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723289C-7025-2550-1312-BB17A9EF71C3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F4CF042-4D55-46E3-919F-9D5E58688974}" type="slidenum">
              <a:rPr lang="en-US" smtClean="0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32847847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9C63338-DAAC-53BE-17E0-66F11184651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C6D8E116-A4C9-B655-3249-6661FD9C8AF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D2B9A197-7384-9BD0-9509-4A229C63FE8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606F68A-548C-A70E-6C73-A6171240C5B7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F4CF042-4D55-46E3-919F-9D5E58688974}" type="slidenum">
              <a:rPr lang="en-US" smtClean="0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82471093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67610F4-E377-8750-9D4C-CB57FDE0F0D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7B0D1D90-AD8B-9BC3-BB83-157088006B0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A635E4DF-3E43-060B-C3A7-59B7E9E78FE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198280B-6155-B79D-BD85-7A078598D9AC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F4CF042-4D55-46E3-919F-9D5E58688974}" type="slidenum">
              <a:rPr lang="en-US" smtClean="0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98672016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31B702F-D03B-E2D4-A03B-A99DC493052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D5CC3EFB-A4F9-1A2A-FD6B-21F00E0D53C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4C2181E1-A541-81D2-C0B2-36DB8DC49D4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B071E03-3D87-9E40-903A-198F5947F35A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F4CF042-4D55-46E3-919F-9D5E58688974}" type="slidenum">
              <a:rPr lang="en-US" smtClean="0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81881483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CC9C4D9-0180-9886-745F-2E9F6F3EA04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C59BCB1C-E88D-0169-84BE-1CD446A26B3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C05B7C8F-4B82-E56E-8745-EAF61D2F6B1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79687E5-DAD2-D6BB-6AB7-C00F49294703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F4CF042-4D55-46E3-919F-9D5E58688974}" type="slidenum">
              <a:rPr lang="en-US" smtClean="0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6007305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0FF89FE-45CF-2BC2-4275-A0E5BA4E339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9AD87C60-9163-32E0-B010-878F57CC38C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4B699CCD-D02E-2CF9-9862-85B3D87F7CB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C5038D0-CA32-46EC-93A8-0D7786A90E66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F4CF042-4D55-46E3-919F-9D5E58688974}" type="slidenum">
              <a:rPr lang="en-US" smtClean="0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15157265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34E16E8-86FB-B600-FF9D-75FF983BC13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51EFA2CE-B6AF-CA38-B98B-CDFE08552FC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36A3E822-1D26-A2BD-8C15-659CED1C885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B1F3330-940A-F670-58EC-2FF00569CBC2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F4CF042-4D55-46E3-919F-9D5E58688974}" type="slidenum">
              <a:rPr lang="en-US" smtClean="0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25500958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297E5FE-FF81-15DF-F03C-CB0A19DB352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CC0ED4DA-01FA-DAAF-71EF-BC890FF18F7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9E5DC66B-787C-B610-631C-5F860F7826B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00C6076-4F2D-3FB0-CF18-65031A15B089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F4CF042-4D55-46E3-919F-9D5E58688974}" type="slidenum">
              <a:rPr lang="en-US" smtClean="0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3540074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2CAA0B6-4257-1DAE-0DD1-3FBF8EB16C3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EBF459E1-2268-F17F-A500-DF70C8B60F9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ABFF89B5-0425-FF22-D346-557003C7568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5CCF84E-608A-419D-A2FF-2623DF6B5CB7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F4CF042-4D55-46E3-919F-9D5E58688974}" type="slidenum">
              <a:rPr lang="en-US" smtClean="0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76913609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F37DA83-A759-338E-1988-CEA341A878D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6CAC5207-1C35-67C6-934C-0F7C4DEA1BA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E95861A7-9E77-D4C5-0B38-E3C7B9BB6F9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F684157-91E1-116F-67BF-35C5EF040A02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F4CF042-4D55-46E3-919F-9D5E58688974}" type="slidenum">
              <a:rPr lang="en-US" smtClean="0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22131405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706BFB7-6D95-89F5-A48A-800D4939F00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BDAA9AAC-B5CD-EA59-A5E3-EF5186B2AD5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E5178C0D-ED13-FB57-CC5F-084AABDDCC3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3716F3B-FE9B-DFA3-ADC0-3A4B1B94A9F0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F4CF042-4D55-46E3-919F-9D5E58688974}" type="slidenum">
              <a:rPr lang="en-US" smtClean="0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1210495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B9E019A-5C75-693E-EC97-CA07214AA57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5E03BB14-D399-D462-218A-8C9D4266C1B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D87E6456-A75F-D201-6797-C28B43F1D27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32023E3-A167-84CE-7BEA-B7ACC6EC7FCD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F4CF042-4D55-46E3-919F-9D5E58688974}" type="slidenum">
              <a:rPr lang="en-US" smtClean="0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02614654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CEA2999-7469-B569-BBBA-88BEB980275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0E430F1C-A8FF-BEC1-D25D-74A6306ED2C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4F0A9806-95B0-F986-1B82-B3C0AEAA5D9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2C5385B-3059-20B4-4DA3-9342FFAD81ED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F4CF042-4D55-46E3-919F-9D5E58688974}" type="slidenum">
              <a:rPr lang="en-US" smtClean="0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0073728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01CC4A3-7F84-A1AD-A9D0-967C465DCF9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ADE74EA0-BF77-63C7-6156-8BD4312A62C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DB4D19A-4048-A1A2-EFF8-E582579B8B7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AA4175-506F-4452-B2EC-E92C9E4C131F}" type="datetimeFigureOut">
              <a:rPr lang="en-US" smtClean="0"/>
              <a:t>8/14/2025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A8099F9-B726-A39C-BEFA-6B31D684A4E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E7FD8C0-0069-16E6-93C1-2C3A27EC28C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3DB971-B815-47B4-B6B4-0A1273A4ABB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9077164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4EE6CA1-9FBD-B430-A14D-A07318880BB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71651B4-D689-7363-12F2-7540814934A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318024C-49DD-C8C9-F44A-591218B91D9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AA4175-506F-4452-B2EC-E92C9E4C131F}" type="datetimeFigureOut">
              <a:rPr lang="en-US" smtClean="0"/>
              <a:t>8/14/2025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F6F4297-3E19-F406-2116-E3D04983AD4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6DBCF37-8C0E-F850-966C-BE1EBA5531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3DB971-B815-47B4-B6B4-0A1273A4ABB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7005935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2DC851E-1B79-DBB9-B953-21151E4F5E3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19108BF-D920-BCB1-C238-FC04E0E51D3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0CA1C1A-285D-FA9C-7EDB-99E22695B52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AA4175-506F-4452-B2EC-E92C9E4C131F}" type="datetimeFigureOut">
              <a:rPr lang="en-US" smtClean="0"/>
              <a:t>8/14/2025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B64D30F-ADDE-6D35-0B91-58BA7E1E77A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65D10DF-A550-D476-E0E4-9E9FFD8FEAB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3DB971-B815-47B4-B6B4-0A1273A4ABB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9010827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7C09012-E62F-26A1-43BA-91AE48B452A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8D4B2E2-C1FD-EC99-3507-193C4A9CAD53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DE5410E-C4B0-D714-D1B3-0E1F42B786E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C5F54A0-CC49-E94B-AF05-1BB88E2B276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AA4175-506F-4452-B2EC-E92C9E4C131F}" type="datetimeFigureOut">
              <a:rPr lang="en-US" smtClean="0"/>
              <a:t>8/14/2025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6D03480-8E28-D34B-4D26-3F1B5102F52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74351B3-2679-425C-A54D-7E3CCF1E200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3DB971-B815-47B4-B6B4-0A1273A4ABB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6184930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55B0B1D-A9CF-4F2B-7AA4-362862019F1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F98A51C-1FCE-907D-4F78-94416714C07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F8C6A37-8110-A13E-845F-2EFA4DA3266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8E62EB75-CDE1-7CCB-0CF3-ED7FEA50D906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8A09A440-6C1D-9E66-8575-DB7B90623112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053AE245-03AA-1751-DB5D-7C96F9C3FB2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AA4175-506F-4452-B2EC-E92C9E4C131F}" type="datetimeFigureOut">
              <a:rPr lang="en-US" smtClean="0"/>
              <a:t>8/14/2025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697252E1-41F0-0CA6-A5C6-880E4504518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7802B103-366C-90C2-E4D3-B030B3C1541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3DB971-B815-47B4-B6B4-0A1273A4ABB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0790992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9E69D99-ACB1-994C-E81C-B6CD6D2A218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D3DD9A55-0AA0-9899-220F-64ED4B573B5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AA4175-506F-4452-B2EC-E92C9E4C131F}" type="datetimeFigureOut">
              <a:rPr lang="en-US" smtClean="0"/>
              <a:t>8/14/2025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712C2D0-0C5A-8B92-9715-25A052ED4BA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79B759F0-C252-DE25-F3B7-F72128AF736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3DB971-B815-47B4-B6B4-0A1273A4ABB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3352317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C0710DC1-4DA9-D0DA-E7CB-BC0CCBA3D30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AA4175-506F-4452-B2EC-E92C9E4C131F}" type="datetimeFigureOut">
              <a:rPr lang="en-US" smtClean="0"/>
              <a:t>8/14/2025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C28F43C2-9F3F-5E6A-A069-B1DAAEEB29A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9EBA299-4341-5F6E-88FB-9518E5B19DE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3DB971-B815-47B4-B6B4-0A1273A4ABB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6065190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02866CD-CE11-1237-5068-EEDAE95650D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7152B4D-3C4B-FA1F-1995-A38254472A6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ABE97E8-23F5-DB52-AC9B-2A0CF2DC0FE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3700056-D4DC-83FC-79CC-62ED4CD7BBD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AA4175-506F-4452-B2EC-E92C9E4C131F}" type="datetimeFigureOut">
              <a:rPr lang="en-US" smtClean="0"/>
              <a:t>8/14/2025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40034F5-033E-0226-6CAA-6F8EF2DCEBA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6B86786-9024-E554-06B8-FD1020C47B2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3DB971-B815-47B4-B6B4-0A1273A4ABB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899699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5A99E73-C6C7-CA2D-71FC-21DC3FD5951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4EDD9F72-3B89-CD38-BBD4-D91851F47C92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DAAB6993-C484-93E4-2435-26A9B157932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738B850-72CA-925F-95CF-664788D170E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AA4175-506F-4452-B2EC-E92C9E4C131F}" type="datetimeFigureOut">
              <a:rPr lang="en-US" smtClean="0"/>
              <a:t>8/14/2025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9B5EE61-6972-FBD9-CACC-C39EDE1A233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04ADC29-5CDE-88EA-7425-387D1BDA5DF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3DB971-B815-47B4-B6B4-0A1273A4ABB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6026275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1E271F1-CF88-083B-6BAE-875F4D1B749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23732E01-6D95-8ACD-4DF1-7EA2320453B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81310FF-F96C-8426-6BB4-6F039C2EBDE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AA4175-506F-4452-B2EC-E92C9E4C131F}" type="datetimeFigureOut">
              <a:rPr lang="en-US" smtClean="0"/>
              <a:t>8/14/2025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C6FCD60-508D-0F03-887F-6972AEC30F4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AE15B8D-ECAB-B45C-E047-EB5B3339974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3DB971-B815-47B4-B6B4-0A1273A4ABB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9044615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4DFED980-3A5A-227A-E9EA-1AB98D00D665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56D751F4-E586-4DC5-6919-22607EE8680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42749B9-DC03-EC59-397B-D07148E8A62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AA4175-506F-4452-B2EC-E92C9E4C131F}" type="datetimeFigureOut">
              <a:rPr lang="en-US" smtClean="0"/>
              <a:t>8/14/2025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F64F0DE-2724-34A0-B560-750713918E2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CF730F4-00B9-EE05-5679-10E5ECD8262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3DB971-B815-47B4-B6B4-0A1273A4ABB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9547277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3B221CCD-4FF0-519F-EEDB-2ED1D163127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1B9B98C-A43F-A75A-0384-FA9CD9F1805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324A5F1-CCAD-2C23-E2C6-6768E71CFB7B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5BAA4175-506F-4452-B2EC-E92C9E4C131F}" type="datetimeFigureOut">
              <a:rPr lang="en-US" smtClean="0"/>
              <a:t>8/14/2025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E612467-3E7F-A72E-F9CB-9865D96F83A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3D1A8E6-11DD-156C-A02C-CE6E224F6FD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A93DB971-B815-47B4-B6B4-0A1273A4ABB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4307234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9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Layout" Target="../slideLayouts/slideLayout9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g"/><Relationship Id="rId1" Type="http://schemas.openxmlformats.org/officeDocument/2006/relationships/slideLayout" Target="../slideLayouts/slideLayout9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g"/><Relationship Id="rId1" Type="http://schemas.openxmlformats.org/officeDocument/2006/relationships/slideLayout" Target="../slideLayouts/slideLayout9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g"/><Relationship Id="rId1" Type="http://schemas.openxmlformats.org/officeDocument/2006/relationships/slideLayout" Target="../slideLayouts/slideLayout9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eg"/><Relationship Id="rId1" Type="http://schemas.openxmlformats.org/officeDocument/2006/relationships/slideLayout" Target="../slideLayouts/slideLayout9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jp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9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jp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9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jp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9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jp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9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jp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9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jp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9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jp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9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jp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9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jp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9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jp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9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jp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9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jp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9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9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chemeClr val="accent1">
                <a:lumMod val="5000"/>
                <a:lumOff val="95000"/>
              </a:schemeClr>
            </a:gs>
            <a:gs pos="54000">
              <a:schemeClr val="accent1">
                <a:lumMod val="45000"/>
                <a:lumOff val="55000"/>
              </a:schemeClr>
            </a:gs>
            <a:gs pos="83000">
              <a:schemeClr val="accent1">
                <a:lumMod val="75000"/>
              </a:schemeClr>
            </a:gs>
            <a:gs pos="100000">
              <a:schemeClr val="accent1">
                <a:lumMod val="30000"/>
                <a:lumOff val="70000"/>
              </a:schemeClr>
            </a:gs>
          </a:gsLst>
          <a:lin ang="54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 descr="A logo of a basketball player">
            <a:extLst>
              <a:ext uri="{FF2B5EF4-FFF2-40B4-BE49-F238E27FC236}">
                <a16:creationId xmlns:a16="http://schemas.microsoft.com/office/drawing/2014/main" id="{3B921739-69E5-BEBD-D966-B46A9F543B2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3895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3321916D-D042-7EE8-A3B8-FE47A04D918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683549"/>
            <a:ext cx="9144000" cy="1020763"/>
          </a:xfrm>
        </p:spPr>
        <p:txBody>
          <a:bodyPr/>
          <a:lstStyle/>
          <a:p>
            <a:r>
              <a:rPr lang="en-US" dirty="0">
                <a:latin typeface="Agency FB" panose="020B0503020202020204" pitchFamily="34" charset="0"/>
                <a:cs typeface="Aharoni" panose="020F0502020204030204" pitchFamily="2" charset="-79"/>
              </a:rPr>
              <a:t>2025 NBA All Time Player List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4F6D4E86-37EE-F0D7-F4D2-AB311EB0A31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1704312"/>
            <a:ext cx="9144000" cy="1020763"/>
          </a:xfrm>
        </p:spPr>
        <p:txBody>
          <a:bodyPr/>
          <a:lstStyle/>
          <a:p>
            <a:r>
              <a:rPr lang="en-US" b="1" dirty="0">
                <a:latin typeface="Agency FB" panose="020B0503020202020204" pitchFamily="34" charset="0"/>
                <a:cs typeface="Aldhabi" panose="020F0502020204030204" pitchFamily="2" charset="-78"/>
              </a:rPr>
              <a:t>Published by: Nate Richardson </a:t>
            </a:r>
          </a:p>
          <a:p>
            <a:r>
              <a:rPr lang="en-US" b="1" dirty="0">
                <a:latin typeface="Agency FB" panose="020B0503020202020204" pitchFamily="34" charset="0"/>
                <a:cs typeface="Aldhabi" panose="020F0502020204030204" pitchFamily="2" charset="-78"/>
              </a:rPr>
              <a:t>BI Analyst/Developer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0766BFAA-E28E-93C3-9E17-0EB8D24C25CA}"/>
              </a:ext>
            </a:extLst>
          </p:cNvPr>
          <p:cNvSpPr txBox="1"/>
          <p:nvPr/>
        </p:nvSpPr>
        <p:spPr>
          <a:xfrm>
            <a:off x="2152892" y="2840264"/>
            <a:ext cx="7014258" cy="390876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b="1" i="1" dirty="0">
                <a:latin typeface="Agency FB" panose="020B0503020202020204" pitchFamily="34" charset="0"/>
              </a:rPr>
              <a:t>This Model uses Weighted Criteria &amp; Bucketized Points for performance across 4 critical criteria that determine how great an NBA player was. There has been a lot of discussion in the Sports Media &amp; on Social Media lately around the best player of all time as well as the best list of the top all-time players in league history. This list is built with a combination of fair &amp; logical criteria across all objective statistics that determine how successful a player was in their career. </a:t>
            </a:r>
          </a:p>
          <a:p>
            <a:r>
              <a:rPr lang="en-US" sz="2000" b="1" i="1" dirty="0">
                <a:latin typeface="Agency FB" panose="020B0503020202020204" pitchFamily="34" charset="0"/>
              </a:rPr>
              <a:t>Longevity, Skill, Dominance &amp; League Impact (even after the player retired) are among the various factors accounted for in the project. Go to this </a:t>
            </a:r>
            <a:r>
              <a:rPr lang="en-US" sz="2000" b="1" i="1" dirty="0" err="1">
                <a:latin typeface="Agency FB" panose="020B0503020202020204" pitchFamily="34" charset="0"/>
              </a:rPr>
              <a:t>Youtube</a:t>
            </a:r>
            <a:r>
              <a:rPr lang="en-US" sz="2000" b="1" i="1" dirty="0">
                <a:latin typeface="Agency FB" panose="020B0503020202020204" pitchFamily="34" charset="0"/>
              </a:rPr>
              <a:t> link  to see my hour long video that breaks down each player’s points &amp; placing!     </a:t>
            </a:r>
          </a:p>
          <a:p>
            <a:r>
              <a:rPr lang="en-US" sz="2000" b="1" i="1" dirty="0">
                <a:latin typeface="Agency FB" panose="020B0503020202020204" pitchFamily="34" charset="0"/>
              </a:rPr>
              <a:t>LINK To Review Video </a:t>
            </a:r>
            <a:r>
              <a:rPr lang="en-US" sz="2800" b="1" i="1" dirty="0">
                <a:highlight>
                  <a:srgbClr val="C0C0C0"/>
                </a:highlight>
                <a:latin typeface="Agency FB" panose="020B0503020202020204" pitchFamily="34" charset="0"/>
              </a:rPr>
              <a:t>https://youtu.be/ye2Z1iyIdtk</a:t>
            </a:r>
          </a:p>
        </p:txBody>
      </p:sp>
    </p:spTree>
    <p:extLst>
      <p:ext uri="{BB962C8B-B14F-4D97-AF65-F5344CB8AC3E}">
        <p14:creationId xmlns:p14="http://schemas.microsoft.com/office/powerpoint/2010/main" val="344081001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chemeClr val="accent1">
                <a:lumMod val="5000"/>
                <a:lumOff val="95000"/>
              </a:schemeClr>
            </a:gs>
            <a:gs pos="59000">
              <a:schemeClr val="accent1">
                <a:lumMod val="45000"/>
                <a:lumOff val="55000"/>
              </a:schemeClr>
            </a:gs>
            <a:gs pos="87000">
              <a:schemeClr val="accent1">
                <a:lumMod val="60000"/>
                <a:lumOff val="40000"/>
              </a:schemeClr>
            </a:gs>
            <a:gs pos="100000">
              <a:schemeClr val="accent1">
                <a:lumMod val="30000"/>
                <a:lumOff val="70000"/>
              </a:schemeClr>
            </a:gs>
          </a:gsLst>
          <a:lin ang="54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7496766-F926-E945-DDF5-9F697AE877A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2"/>
            <a:ext cx="9144000" cy="5136923"/>
          </a:xfrm>
        </p:spPr>
        <p:txBody>
          <a:bodyPr anchor="t">
            <a:normAutofit fontScale="90000"/>
          </a:bodyPr>
          <a:lstStyle/>
          <a:p>
            <a:pPr algn="l"/>
            <a:r>
              <a:rPr lang="en-US" sz="3200" b="1" u="sng" dirty="0">
                <a:latin typeface="Agency FB" panose="020B0503020202020204" pitchFamily="34" charset="0"/>
              </a:rPr>
              <a:t>Summary of Criteria</a:t>
            </a:r>
            <a:br>
              <a:rPr lang="en-US" sz="3200" dirty="0">
                <a:latin typeface="Agency FB" panose="020B0503020202020204" pitchFamily="34" charset="0"/>
              </a:rPr>
            </a:br>
            <a:r>
              <a:rPr lang="en-US" sz="2800" b="1" dirty="0">
                <a:latin typeface="Agency FB" panose="020B0503020202020204" pitchFamily="34" charset="0"/>
              </a:rPr>
              <a:t>Winning And Accolades: </a:t>
            </a:r>
            <a:r>
              <a:rPr lang="en-US" sz="2800" dirty="0">
                <a:latin typeface="Agency FB" panose="020B0503020202020204" pitchFamily="34" charset="0"/>
              </a:rPr>
              <a:t>NBA Championships, NBA MVP, NBA Finals MVP, Rookie of the Year, Defensive Player of the Year, Regular Season Winning Pct, Playoffs Winning Pct.</a:t>
            </a:r>
            <a:br>
              <a:rPr lang="en-US" sz="3200" dirty="0">
                <a:latin typeface="Agency FB" panose="020B0503020202020204" pitchFamily="34" charset="0"/>
              </a:rPr>
            </a:br>
            <a:br>
              <a:rPr lang="en-US" sz="3200" dirty="0">
                <a:latin typeface="Agency FB" panose="020B0503020202020204" pitchFamily="34" charset="0"/>
              </a:rPr>
            </a:br>
            <a:r>
              <a:rPr lang="en-US" sz="2800" b="1" i="1" dirty="0">
                <a:latin typeface="Agency FB" panose="020B0503020202020204" pitchFamily="34" charset="0"/>
              </a:rPr>
              <a:t>Statistics: </a:t>
            </a:r>
            <a:r>
              <a:rPr lang="en-US" sz="2800" dirty="0">
                <a:latin typeface="Agency FB" panose="020B0503020202020204" pitchFamily="34" charset="0"/>
              </a:rPr>
              <a:t>Points Per Game, Rebounds Per Game, Assists Per Game, Steals Per Game, Blocks Per Game, All-Time Stat Leaders (Top 5 All-Time) </a:t>
            </a:r>
            <a:br>
              <a:rPr lang="en-US" sz="3200" dirty="0">
                <a:latin typeface="Agency FB" panose="020B0503020202020204" pitchFamily="34" charset="0"/>
              </a:rPr>
            </a:br>
            <a:br>
              <a:rPr lang="en-US" sz="3200" dirty="0">
                <a:latin typeface="Agency FB" panose="020B0503020202020204" pitchFamily="34" charset="0"/>
              </a:rPr>
            </a:br>
            <a:r>
              <a:rPr lang="en-US" sz="2800" b="1" i="1" dirty="0">
                <a:latin typeface="Agency FB" panose="020B0503020202020204" pitchFamily="34" charset="0"/>
              </a:rPr>
              <a:t>Longevity &amp; Sustained Superior Performance:  </a:t>
            </a:r>
            <a:r>
              <a:rPr lang="en-US" sz="2800" dirty="0">
                <a:latin typeface="Agency FB" panose="020B0503020202020204" pitchFamily="34" charset="0"/>
              </a:rPr>
              <a:t>All-NBA 1</a:t>
            </a:r>
            <a:r>
              <a:rPr lang="en-US" sz="2800" baseline="30000" dirty="0">
                <a:latin typeface="Agency FB" panose="020B0503020202020204" pitchFamily="34" charset="0"/>
              </a:rPr>
              <a:t>st</a:t>
            </a:r>
            <a:r>
              <a:rPr lang="en-US" sz="2800" dirty="0">
                <a:latin typeface="Agency FB" panose="020B0503020202020204" pitchFamily="34" charset="0"/>
              </a:rPr>
              <a:t>, 2</a:t>
            </a:r>
            <a:r>
              <a:rPr lang="en-US" sz="2800" baseline="30000" dirty="0">
                <a:latin typeface="Agency FB" panose="020B0503020202020204" pitchFamily="34" charset="0"/>
              </a:rPr>
              <a:t>nd</a:t>
            </a:r>
            <a:r>
              <a:rPr lang="en-US" sz="2800" dirty="0">
                <a:latin typeface="Agency FB" panose="020B0503020202020204" pitchFamily="34" charset="0"/>
              </a:rPr>
              <a:t> &amp; 3</a:t>
            </a:r>
            <a:r>
              <a:rPr lang="en-US" sz="2800" baseline="30000" dirty="0">
                <a:latin typeface="Agency FB" panose="020B0503020202020204" pitchFamily="34" charset="0"/>
              </a:rPr>
              <a:t>rd</a:t>
            </a:r>
            <a:r>
              <a:rPr lang="en-US" sz="2800" dirty="0">
                <a:latin typeface="Agency FB" panose="020B0503020202020204" pitchFamily="34" charset="0"/>
              </a:rPr>
              <a:t> Team, All-Defense 1</a:t>
            </a:r>
            <a:r>
              <a:rPr lang="en-US" sz="2800" baseline="30000" dirty="0">
                <a:latin typeface="Agency FB" panose="020B0503020202020204" pitchFamily="34" charset="0"/>
              </a:rPr>
              <a:t>st</a:t>
            </a:r>
            <a:r>
              <a:rPr lang="en-US" sz="2800" dirty="0">
                <a:latin typeface="Agency FB" panose="020B0503020202020204" pitchFamily="34" charset="0"/>
              </a:rPr>
              <a:t> &amp; 2</a:t>
            </a:r>
            <a:r>
              <a:rPr lang="en-US" sz="2800" baseline="30000" dirty="0">
                <a:latin typeface="Agency FB" panose="020B0503020202020204" pitchFamily="34" charset="0"/>
              </a:rPr>
              <a:t>nd</a:t>
            </a:r>
            <a:r>
              <a:rPr lang="en-US" sz="2800" dirty="0">
                <a:latin typeface="Agency FB" panose="020B0503020202020204" pitchFamily="34" charset="0"/>
              </a:rPr>
              <a:t> Team, Scoring Title, Rebounding Title, Assists Title, Steals Title, Blocks Title</a:t>
            </a:r>
            <a:br>
              <a:rPr lang="en-US" sz="3200" dirty="0">
                <a:latin typeface="Agency FB" panose="020B0503020202020204" pitchFamily="34" charset="0"/>
              </a:rPr>
            </a:br>
            <a:br>
              <a:rPr lang="en-US" sz="3200" dirty="0">
                <a:latin typeface="Agency FB" panose="020B0503020202020204" pitchFamily="34" charset="0"/>
              </a:rPr>
            </a:br>
            <a:r>
              <a:rPr lang="en-US" sz="2800" b="1" i="1" dirty="0">
                <a:latin typeface="Agency FB" panose="020B0503020202020204" pitchFamily="34" charset="0"/>
              </a:rPr>
              <a:t>Legacy &amp; Impact:  </a:t>
            </a:r>
            <a:r>
              <a:rPr lang="en-US" sz="2800" dirty="0">
                <a:latin typeface="Agency FB" panose="020B0503020202020204" pitchFamily="34" charset="0"/>
              </a:rPr>
              <a:t>Subjective Score from a Scale of 0 through 50 to </a:t>
            </a:r>
            <a:r>
              <a:rPr lang="en-US" sz="2800" dirty="0" err="1">
                <a:latin typeface="Agency FB" panose="020B0503020202020204" pitchFamily="34" charset="0"/>
              </a:rPr>
              <a:t>guage</a:t>
            </a:r>
            <a:r>
              <a:rPr lang="en-US" sz="2800" dirty="0">
                <a:latin typeface="Agency FB" panose="020B0503020202020204" pitchFamily="34" charset="0"/>
              </a:rPr>
              <a:t> the overall impact that the player had on the sport of basketball (both on &amp; off the court). This can include: Cultural, Style of Play/Rules, Generational Impact etc. </a:t>
            </a:r>
            <a:endParaRPr lang="en-US" sz="2800" b="1" i="1" dirty="0">
              <a:latin typeface="Agency FB" panose="020B0503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7763512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chemeClr val="accent1">
                <a:lumMod val="5000"/>
                <a:lumOff val="95000"/>
              </a:schemeClr>
            </a:gs>
            <a:gs pos="59000">
              <a:schemeClr val="accent1">
                <a:lumMod val="45000"/>
                <a:lumOff val="55000"/>
              </a:schemeClr>
            </a:gs>
            <a:gs pos="87000">
              <a:schemeClr val="accent1">
                <a:lumMod val="60000"/>
                <a:lumOff val="40000"/>
              </a:schemeClr>
            </a:gs>
            <a:gs pos="100000">
              <a:schemeClr val="accent1">
                <a:lumMod val="30000"/>
                <a:lumOff val="70000"/>
              </a:schemeClr>
            </a:gs>
          </a:gsLst>
          <a:lin ang="54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2FEA3EE-0A15-CEF1-F1DE-D69E2A731C15}"/>
              </a:ext>
            </a:extLst>
          </p:cNvPr>
          <p:cNvSpPr>
            <a:spLocks noGrp="1"/>
          </p:cNvSpPr>
          <p:nvPr>
            <p:ph type="title"/>
          </p:nvPr>
        </p:nvSpPr>
        <p:spPr>
          <a:gradFill>
            <a:gsLst>
              <a:gs pos="0">
                <a:schemeClr val="accent1">
                  <a:lumMod val="5000"/>
                  <a:lumOff val="95000"/>
                </a:schemeClr>
              </a:gs>
              <a:gs pos="59000">
                <a:schemeClr val="accent1">
                  <a:lumMod val="45000"/>
                  <a:lumOff val="55000"/>
                </a:schemeClr>
              </a:gs>
              <a:gs pos="87000">
                <a:schemeClr val="accent1">
                  <a:lumMod val="60000"/>
                  <a:lumOff val="40000"/>
                </a:schemeClr>
              </a:gs>
              <a:gs pos="100000">
                <a:schemeClr val="accent1">
                  <a:lumMod val="30000"/>
                  <a:lumOff val="70000"/>
                </a:schemeClr>
              </a:gs>
            </a:gsLst>
            <a:lin ang="5400000" scaled="1"/>
          </a:gradFill>
        </p:spPr>
        <p:txBody>
          <a:bodyPr/>
          <a:lstStyle/>
          <a:p>
            <a:r>
              <a:rPr lang="en-US" b="1" i="1" dirty="0">
                <a:latin typeface="Agency FB" panose="020B0503020202020204" pitchFamily="34" charset="0"/>
              </a:rPr>
              <a:t>Breakdown of Criteria: Winning &amp; Accolades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4F3EC92-3554-7959-5F03-5D28D8C26D1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667250"/>
          </a:xfrm>
          <a:gradFill>
            <a:gsLst>
              <a:gs pos="0">
                <a:schemeClr val="accent1">
                  <a:lumMod val="5000"/>
                  <a:lumOff val="95000"/>
                </a:schemeClr>
              </a:gs>
              <a:gs pos="59000">
                <a:schemeClr val="accent1">
                  <a:lumMod val="45000"/>
                  <a:lumOff val="55000"/>
                </a:schemeClr>
              </a:gs>
              <a:gs pos="87000">
                <a:schemeClr val="accent1">
                  <a:lumMod val="60000"/>
                  <a:lumOff val="40000"/>
                </a:schemeClr>
              </a:gs>
              <a:gs pos="100000">
                <a:schemeClr val="accent1">
                  <a:lumMod val="30000"/>
                  <a:lumOff val="70000"/>
                </a:schemeClr>
              </a:gs>
            </a:gsLst>
            <a:lin ang="5400000" scaled="1"/>
          </a:gradFill>
        </p:spPr>
        <p:txBody>
          <a:bodyPr/>
          <a:lstStyle/>
          <a:p>
            <a:pPr marL="0" indent="0">
              <a:buNone/>
            </a:pPr>
            <a:r>
              <a:rPr lang="en-US" b="1" i="1" dirty="0">
                <a:latin typeface="Agency FB" panose="020B0503020202020204" pitchFamily="34" charset="0"/>
              </a:rPr>
              <a:t>NBA Championship – 4 points </a:t>
            </a:r>
          </a:p>
          <a:p>
            <a:pPr marL="0" indent="0">
              <a:buNone/>
            </a:pPr>
            <a:r>
              <a:rPr lang="en-US" b="1" i="1" dirty="0">
                <a:latin typeface="Agency FB" panose="020B0503020202020204" pitchFamily="34" charset="0"/>
              </a:rPr>
              <a:t>NBA Finals MVP – 3 points </a:t>
            </a:r>
          </a:p>
          <a:p>
            <a:pPr marL="0" indent="0">
              <a:buNone/>
            </a:pPr>
            <a:r>
              <a:rPr lang="en-US" b="1" i="1" dirty="0">
                <a:latin typeface="Agency FB" panose="020B0503020202020204" pitchFamily="34" charset="0"/>
              </a:rPr>
              <a:t>NBA MVP – 2 points</a:t>
            </a:r>
          </a:p>
          <a:p>
            <a:pPr marL="0" indent="0">
              <a:buNone/>
            </a:pPr>
            <a:r>
              <a:rPr lang="en-US" b="1" i="1" dirty="0">
                <a:latin typeface="Agency FB" panose="020B0503020202020204" pitchFamily="34" charset="0"/>
              </a:rPr>
              <a:t>DPOY (Defensive Player of the Year) – 4 points </a:t>
            </a:r>
          </a:p>
          <a:p>
            <a:pPr marL="0" indent="0">
              <a:buNone/>
            </a:pPr>
            <a:r>
              <a:rPr lang="en-US" b="1" i="1" dirty="0">
                <a:latin typeface="Agency FB" panose="020B0503020202020204" pitchFamily="34" charset="0"/>
              </a:rPr>
              <a:t>ROY (Rookie of the Year) – 3 points</a:t>
            </a:r>
          </a:p>
          <a:p>
            <a:pPr marL="0" indent="0">
              <a:buNone/>
            </a:pPr>
            <a:r>
              <a:rPr lang="en-US" b="1" i="1" dirty="0">
                <a:latin typeface="Agency FB" panose="020B0503020202020204" pitchFamily="34" charset="0"/>
              </a:rPr>
              <a:t>6MOY (6</a:t>
            </a:r>
            <a:r>
              <a:rPr lang="en-US" b="1" i="1" baseline="30000" dirty="0">
                <a:latin typeface="Agency FB" panose="020B0503020202020204" pitchFamily="34" charset="0"/>
              </a:rPr>
              <a:t>th</a:t>
            </a:r>
            <a:r>
              <a:rPr lang="en-US" b="1" i="1" dirty="0">
                <a:latin typeface="Agency FB" panose="020B0503020202020204" pitchFamily="34" charset="0"/>
              </a:rPr>
              <a:t> Man of the Year) – 2 points</a:t>
            </a:r>
          </a:p>
          <a:p>
            <a:pPr marL="0" indent="0">
              <a:buNone/>
            </a:pPr>
            <a:r>
              <a:rPr lang="en-US" b="1" i="1" dirty="0">
                <a:latin typeface="Agency FB" panose="020B0503020202020204" pitchFamily="34" charset="0"/>
              </a:rPr>
              <a:t>All- Star Game Appearance - .25 points1</a:t>
            </a:r>
          </a:p>
          <a:p>
            <a:pPr marL="0" indent="0">
              <a:buNone/>
            </a:pPr>
            <a:r>
              <a:rPr lang="en-US" b="1" i="1" dirty="0">
                <a:latin typeface="Agency FB" panose="020B0503020202020204" pitchFamily="34" charset="0"/>
              </a:rPr>
              <a:t>Career Regular Season Winning Pct. - &gt; 60% (1.5 Points) / &gt; 70% (3 points) </a:t>
            </a:r>
          </a:p>
          <a:p>
            <a:pPr marL="0" indent="0">
              <a:buNone/>
            </a:pPr>
            <a:r>
              <a:rPr lang="en-US" b="1" i="1" dirty="0">
                <a:latin typeface="Agency FB" panose="020B0503020202020204" pitchFamily="34" charset="0"/>
              </a:rPr>
              <a:t>Career Playoff Winning Pct. - &gt; 55% (1.5 Points) / &gt; 60% (3 points) </a:t>
            </a:r>
          </a:p>
          <a:p>
            <a:pPr marL="0" indent="0">
              <a:buNone/>
            </a:pPr>
            <a:endParaRPr lang="en-US" b="1" i="1" dirty="0">
              <a:latin typeface="Agency FB" panose="020B0503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14141127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chemeClr val="accent1">
                <a:lumMod val="5000"/>
                <a:lumOff val="95000"/>
              </a:schemeClr>
            </a:gs>
            <a:gs pos="59000">
              <a:schemeClr val="accent1">
                <a:lumMod val="45000"/>
                <a:lumOff val="55000"/>
              </a:schemeClr>
            </a:gs>
            <a:gs pos="87000">
              <a:schemeClr val="accent1">
                <a:lumMod val="60000"/>
                <a:lumOff val="40000"/>
              </a:schemeClr>
            </a:gs>
            <a:gs pos="100000">
              <a:schemeClr val="accent1">
                <a:lumMod val="30000"/>
                <a:lumOff val="70000"/>
              </a:schemeClr>
            </a:gs>
          </a:gsLst>
          <a:lin ang="5400000" scaled="1"/>
        </a:gra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25001981-1334-8617-E860-715942D07CD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CF9F032-1249-5DA1-8FA6-E2CD1F083B0E}"/>
              </a:ext>
            </a:extLst>
          </p:cNvPr>
          <p:cNvSpPr>
            <a:spLocks noGrp="1"/>
          </p:cNvSpPr>
          <p:nvPr>
            <p:ph type="title"/>
          </p:nvPr>
        </p:nvSpPr>
        <p:spPr>
          <a:gradFill>
            <a:gsLst>
              <a:gs pos="0">
                <a:schemeClr val="accent1">
                  <a:lumMod val="5000"/>
                  <a:lumOff val="95000"/>
                </a:schemeClr>
              </a:gs>
              <a:gs pos="59000">
                <a:schemeClr val="accent1">
                  <a:lumMod val="45000"/>
                  <a:lumOff val="55000"/>
                </a:schemeClr>
              </a:gs>
              <a:gs pos="87000">
                <a:schemeClr val="accent1">
                  <a:lumMod val="60000"/>
                  <a:lumOff val="40000"/>
                </a:schemeClr>
              </a:gs>
              <a:gs pos="100000">
                <a:schemeClr val="accent1">
                  <a:lumMod val="30000"/>
                  <a:lumOff val="70000"/>
                </a:schemeClr>
              </a:gs>
            </a:gsLst>
            <a:lin ang="5400000" scaled="1"/>
          </a:gradFill>
        </p:spPr>
        <p:txBody>
          <a:bodyPr/>
          <a:lstStyle/>
          <a:p>
            <a:r>
              <a:rPr lang="en-US" b="1" i="1" dirty="0">
                <a:latin typeface="Agency FB" panose="020B0503020202020204" pitchFamily="34" charset="0"/>
              </a:rPr>
              <a:t>Breakdown of Criteria: Statistics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358F4E0-ED30-2035-E4AB-05FB6F813953}"/>
              </a:ext>
            </a:extLst>
          </p:cNvPr>
          <p:cNvSpPr>
            <a:spLocks noGrp="1"/>
          </p:cNvSpPr>
          <p:nvPr>
            <p:ph idx="1"/>
          </p:nvPr>
        </p:nvSpPr>
        <p:spPr>
          <a:gradFill>
            <a:gsLst>
              <a:gs pos="0">
                <a:schemeClr val="accent1">
                  <a:lumMod val="5000"/>
                  <a:lumOff val="95000"/>
                </a:schemeClr>
              </a:gs>
              <a:gs pos="59000">
                <a:schemeClr val="accent1">
                  <a:lumMod val="45000"/>
                  <a:lumOff val="55000"/>
                </a:schemeClr>
              </a:gs>
              <a:gs pos="87000">
                <a:schemeClr val="accent1">
                  <a:lumMod val="60000"/>
                  <a:lumOff val="40000"/>
                </a:schemeClr>
              </a:gs>
              <a:gs pos="100000">
                <a:schemeClr val="accent1">
                  <a:lumMod val="30000"/>
                  <a:lumOff val="70000"/>
                </a:schemeClr>
              </a:gs>
            </a:gsLst>
            <a:lin ang="5400000" scaled="1"/>
          </a:gradFill>
        </p:spPr>
        <p:txBody>
          <a:bodyPr/>
          <a:lstStyle/>
          <a:p>
            <a:pPr marL="0" indent="0">
              <a:buNone/>
            </a:pPr>
            <a:r>
              <a:rPr lang="en-US" b="1" i="1" dirty="0">
                <a:latin typeface="Agency FB" panose="020B0503020202020204" pitchFamily="34" charset="0"/>
              </a:rPr>
              <a:t>Weighted Points for Points Per Game: Season Multiplier for 1  pt per point</a:t>
            </a:r>
          </a:p>
          <a:p>
            <a:pPr marL="0" indent="0">
              <a:buNone/>
            </a:pPr>
            <a:r>
              <a:rPr lang="en-US" b="1" i="1" dirty="0">
                <a:latin typeface="Agency FB" panose="020B0503020202020204" pitchFamily="34" charset="0"/>
              </a:rPr>
              <a:t>Weighted Points for Rebounds Per Game: Season Multiplier for 1  pt per rebound</a:t>
            </a:r>
          </a:p>
          <a:p>
            <a:pPr marL="0" indent="0">
              <a:buNone/>
            </a:pPr>
            <a:r>
              <a:rPr lang="en-US" b="1" i="1" dirty="0">
                <a:latin typeface="Agency FB" panose="020B0503020202020204" pitchFamily="34" charset="0"/>
              </a:rPr>
              <a:t>Weighted Points for Assists Per Game: Season Multiplier for 1  pt per assist</a:t>
            </a:r>
          </a:p>
          <a:p>
            <a:pPr marL="0" indent="0">
              <a:buNone/>
            </a:pPr>
            <a:r>
              <a:rPr lang="en-US" b="1" i="1" dirty="0">
                <a:latin typeface="Agency FB" panose="020B0503020202020204" pitchFamily="34" charset="0"/>
              </a:rPr>
              <a:t>Weighted Points for Blocks Per Game: Season Multiplier for 1 .5 pt per block</a:t>
            </a:r>
          </a:p>
          <a:p>
            <a:pPr marL="0" indent="0">
              <a:buNone/>
            </a:pPr>
            <a:r>
              <a:rPr lang="en-US" b="1" i="1" dirty="0">
                <a:latin typeface="Agency FB" panose="020B0503020202020204" pitchFamily="34" charset="0"/>
              </a:rPr>
              <a:t>Weighted Points for Steals Per Game: Season Multiplier for 1 .5 pt per steal</a:t>
            </a:r>
          </a:p>
          <a:p>
            <a:pPr marL="0" indent="0">
              <a:buNone/>
            </a:pPr>
            <a:endParaRPr lang="en-US" b="1" i="1" dirty="0">
              <a:latin typeface="Agency FB" panose="020B0503020202020204" pitchFamily="34" charset="0"/>
            </a:endParaRPr>
          </a:p>
          <a:p>
            <a:r>
              <a:rPr lang="en-US" b="1" i="1" dirty="0">
                <a:latin typeface="Agency FB" panose="020B0503020202020204" pitchFamily="34" charset="0"/>
              </a:rPr>
              <a:t>Total Player Score for Career “Per Game” Statistics= </a:t>
            </a:r>
          </a:p>
          <a:p>
            <a:pPr marL="0" indent="0" algn="ctr">
              <a:buNone/>
            </a:pPr>
            <a:r>
              <a:rPr lang="en-US" sz="2400" b="1" i="1" dirty="0">
                <a:latin typeface="Agency FB" panose="020B0503020202020204" pitchFamily="34" charset="0"/>
              </a:rPr>
              <a:t>SUM (weighted pts + weighted rebs + weighed </a:t>
            </a:r>
            <a:r>
              <a:rPr lang="en-US" sz="2400" b="1" i="1" dirty="0" err="1">
                <a:latin typeface="Agency FB" panose="020B0503020202020204" pitchFamily="34" charset="0"/>
              </a:rPr>
              <a:t>ast</a:t>
            </a:r>
            <a:r>
              <a:rPr lang="en-US" sz="2400" b="1" i="1" dirty="0">
                <a:latin typeface="Agency FB" panose="020B0503020202020204" pitchFamily="34" charset="0"/>
              </a:rPr>
              <a:t> + weighted blk + weighted </a:t>
            </a:r>
            <a:r>
              <a:rPr lang="en-US" sz="2400" b="1" i="1" dirty="0" err="1">
                <a:latin typeface="Agency FB" panose="020B0503020202020204" pitchFamily="34" charset="0"/>
              </a:rPr>
              <a:t>stl</a:t>
            </a:r>
            <a:r>
              <a:rPr lang="en-US" sz="2400" b="1" i="1" dirty="0">
                <a:latin typeface="Agency FB" panose="020B0503020202020204" pitchFamily="34" charset="0"/>
              </a:rPr>
              <a:t>)</a:t>
            </a:r>
          </a:p>
        </p:txBody>
      </p:sp>
    </p:spTree>
    <p:extLst>
      <p:ext uri="{BB962C8B-B14F-4D97-AF65-F5344CB8AC3E}">
        <p14:creationId xmlns:p14="http://schemas.microsoft.com/office/powerpoint/2010/main" val="191857616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chemeClr val="accent1">
                <a:lumMod val="5000"/>
                <a:lumOff val="95000"/>
              </a:schemeClr>
            </a:gs>
            <a:gs pos="59000">
              <a:schemeClr val="accent1">
                <a:lumMod val="45000"/>
                <a:lumOff val="55000"/>
              </a:schemeClr>
            </a:gs>
            <a:gs pos="87000">
              <a:schemeClr val="accent1">
                <a:lumMod val="60000"/>
                <a:lumOff val="40000"/>
              </a:schemeClr>
            </a:gs>
            <a:gs pos="100000">
              <a:schemeClr val="accent1">
                <a:lumMod val="30000"/>
                <a:lumOff val="70000"/>
              </a:schemeClr>
            </a:gs>
          </a:gsLst>
          <a:lin ang="5400000" scaled="1"/>
        </a:gra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059C94E7-23BD-8DF5-B577-E5418397A9F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35910F7-AE31-5F4A-B5F4-2435C38E5EFB}"/>
              </a:ext>
            </a:extLst>
          </p:cNvPr>
          <p:cNvSpPr>
            <a:spLocks noGrp="1"/>
          </p:cNvSpPr>
          <p:nvPr>
            <p:ph type="title"/>
          </p:nvPr>
        </p:nvSpPr>
        <p:spPr>
          <a:gradFill>
            <a:gsLst>
              <a:gs pos="0">
                <a:schemeClr val="accent1">
                  <a:lumMod val="5000"/>
                  <a:lumOff val="95000"/>
                </a:schemeClr>
              </a:gs>
              <a:gs pos="59000">
                <a:schemeClr val="accent1">
                  <a:lumMod val="45000"/>
                  <a:lumOff val="55000"/>
                </a:schemeClr>
              </a:gs>
              <a:gs pos="87000">
                <a:schemeClr val="accent1">
                  <a:lumMod val="60000"/>
                  <a:lumOff val="40000"/>
                </a:schemeClr>
              </a:gs>
              <a:gs pos="100000">
                <a:schemeClr val="accent1">
                  <a:lumMod val="30000"/>
                  <a:lumOff val="70000"/>
                </a:schemeClr>
              </a:gs>
            </a:gsLst>
            <a:lin ang="5400000" scaled="1"/>
          </a:gradFill>
        </p:spPr>
        <p:txBody>
          <a:bodyPr/>
          <a:lstStyle/>
          <a:p>
            <a:r>
              <a:rPr lang="en-US" b="1" i="1" dirty="0">
                <a:latin typeface="Agency FB" panose="020B0503020202020204" pitchFamily="34" charset="0"/>
              </a:rPr>
              <a:t>Breakdown of Criteria: Longevity + Sustained Superior Performance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864FA5B-9606-EC35-24AC-184905D0A1A5}"/>
              </a:ext>
            </a:extLst>
          </p:cNvPr>
          <p:cNvSpPr>
            <a:spLocks noGrp="1"/>
          </p:cNvSpPr>
          <p:nvPr>
            <p:ph idx="1"/>
          </p:nvPr>
        </p:nvSpPr>
        <p:spPr>
          <a:gradFill>
            <a:gsLst>
              <a:gs pos="0">
                <a:schemeClr val="accent1">
                  <a:lumMod val="5000"/>
                  <a:lumOff val="95000"/>
                </a:schemeClr>
              </a:gs>
              <a:gs pos="59000">
                <a:schemeClr val="accent1">
                  <a:lumMod val="45000"/>
                  <a:lumOff val="55000"/>
                </a:schemeClr>
              </a:gs>
              <a:gs pos="87000">
                <a:schemeClr val="accent1">
                  <a:lumMod val="60000"/>
                  <a:lumOff val="40000"/>
                </a:schemeClr>
              </a:gs>
              <a:gs pos="100000">
                <a:schemeClr val="accent1">
                  <a:lumMod val="30000"/>
                  <a:lumOff val="70000"/>
                </a:schemeClr>
              </a:gs>
            </a:gsLst>
            <a:lin ang="5400000" scaled="1"/>
          </a:gradFill>
        </p:spPr>
        <p:txBody>
          <a:bodyPr/>
          <a:lstStyle/>
          <a:p>
            <a:pPr marL="0" indent="0">
              <a:buNone/>
            </a:pPr>
            <a:r>
              <a:rPr lang="en-US" b="1" i="1" dirty="0">
                <a:latin typeface="Agency FB" panose="020B0503020202020204" pitchFamily="34" charset="0"/>
              </a:rPr>
              <a:t>All  - NBA 1</a:t>
            </a:r>
            <a:r>
              <a:rPr lang="en-US" b="1" i="1" baseline="30000" dirty="0">
                <a:latin typeface="Agency FB" panose="020B0503020202020204" pitchFamily="34" charset="0"/>
              </a:rPr>
              <a:t>st</a:t>
            </a:r>
            <a:r>
              <a:rPr lang="en-US" b="1" i="1" dirty="0">
                <a:latin typeface="Agency FB" panose="020B0503020202020204" pitchFamily="34" charset="0"/>
              </a:rPr>
              <a:t> Team – 3 points </a:t>
            </a:r>
          </a:p>
          <a:p>
            <a:pPr marL="0" indent="0">
              <a:buNone/>
            </a:pPr>
            <a:r>
              <a:rPr lang="en-US" b="1" i="1" dirty="0">
                <a:latin typeface="Agency FB" panose="020B0503020202020204" pitchFamily="34" charset="0"/>
              </a:rPr>
              <a:t>All- NBA 2</a:t>
            </a:r>
            <a:r>
              <a:rPr lang="en-US" b="1" i="1" baseline="30000" dirty="0">
                <a:latin typeface="Agency FB" panose="020B0503020202020204" pitchFamily="34" charset="0"/>
              </a:rPr>
              <a:t>nd</a:t>
            </a:r>
            <a:r>
              <a:rPr lang="en-US" b="1" i="1" dirty="0">
                <a:latin typeface="Agency FB" panose="020B0503020202020204" pitchFamily="34" charset="0"/>
              </a:rPr>
              <a:t> Team – 2 points</a:t>
            </a:r>
          </a:p>
          <a:p>
            <a:pPr marL="0" indent="0">
              <a:buNone/>
            </a:pPr>
            <a:r>
              <a:rPr lang="en-US" b="1" i="1" dirty="0">
                <a:latin typeface="Agency FB" panose="020B0503020202020204" pitchFamily="34" charset="0"/>
              </a:rPr>
              <a:t>All – NBA 3</a:t>
            </a:r>
            <a:r>
              <a:rPr lang="en-US" b="1" i="1" baseline="30000" dirty="0">
                <a:latin typeface="Agency FB" panose="020B0503020202020204" pitchFamily="34" charset="0"/>
              </a:rPr>
              <a:t>rd</a:t>
            </a:r>
            <a:r>
              <a:rPr lang="en-US" b="1" i="1" dirty="0">
                <a:latin typeface="Agency FB" panose="020B0503020202020204" pitchFamily="34" charset="0"/>
              </a:rPr>
              <a:t> Team – 1 point</a:t>
            </a:r>
          </a:p>
          <a:p>
            <a:pPr marL="0" indent="0">
              <a:buNone/>
            </a:pPr>
            <a:r>
              <a:rPr lang="en-US" b="1" i="1" dirty="0">
                <a:latin typeface="Agency FB" panose="020B0503020202020204" pitchFamily="34" charset="0"/>
              </a:rPr>
              <a:t>All  - NBA Defensive 1</a:t>
            </a:r>
            <a:r>
              <a:rPr lang="en-US" b="1" i="1" baseline="30000" dirty="0">
                <a:latin typeface="Agency FB" panose="020B0503020202020204" pitchFamily="34" charset="0"/>
              </a:rPr>
              <a:t>st</a:t>
            </a:r>
            <a:r>
              <a:rPr lang="en-US" b="1" i="1" dirty="0">
                <a:latin typeface="Agency FB" panose="020B0503020202020204" pitchFamily="34" charset="0"/>
              </a:rPr>
              <a:t> Team – 2 points</a:t>
            </a:r>
          </a:p>
          <a:p>
            <a:pPr marL="0" indent="0">
              <a:buNone/>
            </a:pPr>
            <a:r>
              <a:rPr lang="en-US" b="1" i="1" dirty="0">
                <a:latin typeface="Agency FB" panose="020B0503020202020204" pitchFamily="34" charset="0"/>
              </a:rPr>
              <a:t>All – NBA Defensive 2</a:t>
            </a:r>
            <a:r>
              <a:rPr lang="en-US" b="1" i="1" baseline="30000" dirty="0">
                <a:latin typeface="Agency FB" panose="020B0503020202020204" pitchFamily="34" charset="0"/>
              </a:rPr>
              <a:t>nd</a:t>
            </a:r>
            <a:r>
              <a:rPr lang="en-US" b="1" i="1" dirty="0">
                <a:latin typeface="Agency FB" panose="020B0503020202020204" pitchFamily="34" charset="0"/>
              </a:rPr>
              <a:t> Team – 1 point</a:t>
            </a:r>
          </a:p>
        </p:txBody>
      </p:sp>
    </p:spTree>
    <p:extLst>
      <p:ext uri="{BB962C8B-B14F-4D97-AF65-F5344CB8AC3E}">
        <p14:creationId xmlns:p14="http://schemas.microsoft.com/office/powerpoint/2010/main" val="205642915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chemeClr val="accent1">
                <a:lumMod val="5000"/>
                <a:lumOff val="95000"/>
              </a:schemeClr>
            </a:gs>
            <a:gs pos="59000">
              <a:srgbClr val="FF0000"/>
            </a:gs>
            <a:gs pos="87000">
              <a:schemeClr val="bg2">
                <a:lumMod val="50000"/>
              </a:schemeClr>
            </a:gs>
            <a:gs pos="100000">
              <a:schemeClr val="tx1">
                <a:lumMod val="85000"/>
                <a:lumOff val="15000"/>
              </a:schemeClr>
            </a:gs>
          </a:gsLst>
          <a:lin ang="54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E2AB80C-83DA-7DED-75FF-C0FAE13720B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anchor="t">
            <a:normAutofit/>
          </a:bodyPr>
          <a:lstStyle/>
          <a:p>
            <a:pPr algn="ctr"/>
            <a:r>
              <a:rPr lang="en-US" sz="4000" b="1" dirty="0">
                <a:latin typeface="Agency FB" panose="020B0503020202020204" pitchFamily="34" charset="0"/>
              </a:rPr>
              <a:t>Michael Jordan #1 </a:t>
            </a:r>
            <a:br>
              <a:rPr lang="en-US" sz="4000" b="1" dirty="0">
                <a:latin typeface="Agency FB" panose="020B0503020202020204" pitchFamily="34" charset="0"/>
              </a:rPr>
            </a:br>
            <a:r>
              <a:rPr lang="en-US" sz="4000" b="1" dirty="0">
                <a:latin typeface="Agency FB" panose="020B0503020202020204" pitchFamily="34" charset="0"/>
              </a:rPr>
              <a:t>250.28 Total Points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AF2073D-618E-DC81-845D-A2F7F4C1A6B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5526288" cy="4343400"/>
          </a:xfrm>
        </p:spPr>
        <p:txBody>
          <a:bodyPr>
            <a:normAutofit fontScale="92500" lnSpcReduction="20000"/>
          </a:bodyPr>
          <a:lstStyle/>
          <a:p>
            <a:r>
              <a:rPr lang="en-US" sz="2800" b="1" dirty="0">
                <a:latin typeface="Agency FB" panose="020B0503020202020204" pitchFamily="34" charset="0"/>
              </a:rPr>
              <a:t>Points for Career Stats: 56.28 pts</a:t>
            </a:r>
          </a:p>
          <a:p>
            <a:r>
              <a:rPr lang="en-US" sz="2800" b="1" dirty="0">
                <a:latin typeface="Agency FB" panose="020B0503020202020204" pitchFamily="34" charset="0"/>
              </a:rPr>
              <a:t>Points for Winning/Accolades &amp; Longevity/SSP: 144 pts</a:t>
            </a:r>
          </a:p>
          <a:p>
            <a:r>
              <a:rPr lang="en-US" sz="2800" b="1" dirty="0">
                <a:latin typeface="Agency FB" panose="020B0503020202020204" pitchFamily="34" charset="0"/>
              </a:rPr>
              <a:t>Impact &amp; Legacy: 50/50</a:t>
            </a:r>
          </a:p>
          <a:p>
            <a:endParaRPr lang="en-US" sz="2800" b="1" dirty="0">
              <a:latin typeface="Agency FB" panose="020B0503020202020204" pitchFamily="34" charset="0"/>
            </a:endParaRPr>
          </a:p>
          <a:p>
            <a:r>
              <a:rPr lang="en-US" sz="2800" b="1" dirty="0">
                <a:latin typeface="Agency FB" panose="020B0503020202020204" pitchFamily="34" charset="0"/>
              </a:rPr>
              <a:t>Jordan has 10 scoring titles, 6 NBA Championships, 3 Steals titles &amp; 5 NBA MVPs. He is one of the greatest 2-way players as well with 9 career All-NBA First Teams. Jordan scores a 50 on his impact on the game for being the trailblazer of the player contracts for shoes/commercials. He is worth over 3.5 Billion USD in 2025.</a:t>
            </a:r>
          </a:p>
          <a:p>
            <a:endParaRPr lang="en-US" dirty="0"/>
          </a:p>
        </p:txBody>
      </p:sp>
      <p:pic>
        <p:nvPicPr>
          <p:cNvPr id="10" name="Picture 9" descr="A basketball player dunking a basketball">
            <a:extLst>
              <a:ext uri="{FF2B5EF4-FFF2-40B4-BE49-F238E27FC236}">
                <a16:creationId xmlns:a16="http://schemas.microsoft.com/office/drawing/2014/main" id="{7CC946B0-2A1A-F0C4-A66E-7BB93771FAA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679495" y="312516"/>
            <a:ext cx="4547947" cy="6157731"/>
          </a:xfrm>
          <a:prstGeom prst="rect">
            <a:avLst/>
          </a:prstGeom>
          <a:solidFill>
            <a:srgbClr val="FFFFFF">
              <a:shade val="85000"/>
            </a:srgbClr>
          </a:solidFill>
          <a:ln w="190500" cap="sq">
            <a:solidFill>
              <a:srgbClr val="FFFFFF"/>
            </a:solidFill>
            <a:miter lim="800000"/>
          </a:ln>
          <a:effectLst>
            <a:outerShdw blurRad="65000" dist="50800" dir="12900000" kx="195000" ky="145000" algn="tl" rotWithShape="0">
              <a:srgbClr val="000000">
                <a:alpha val="30000"/>
              </a:srgbClr>
            </a:outerShdw>
          </a:effectLst>
          <a:scene3d>
            <a:camera prst="orthographicFront">
              <a:rot lat="0" lon="0" rev="360000"/>
            </a:camera>
            <a:lightRig rig="twoPt" dir="t">
              <a:rot lat="0" lon="0" rev="7200000"/>
            </a:lightRig>
          </a:scene3d>
          <a:sp3d contourW="12700">
            <a:bevelT w="25400" h="19050"/>
            <a:contourClr>
              <a:srgbClr val="969696"/>
            </a:contourClr>
          </a:sp3d>
        </p:spPr>
      </p:pic>
    </p:spTree>
    <p:extLst>
      <p:ext uri="{BB962C8B-B14F-4D97-AF65-F5344CB8AC3E}">
        <p14:creationId xmlns:p14="http://schemas.microsoft.com/office/powerpoint/2010/main" val="4713807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chemeClr val="accent1">
                <a:lumMod val="5000"/>
                <a:lumOff val="95000"/>
              </a:schemeClr>
            </a:gs>
            <a:gs pos="59000">
              <a:srgbClr val="FFFF00"/>
            </a:gs>
            <a:gs pos="87000">
              <a:schemeClr val="accent5">
                <a:lumMod val="60000"/>
                <a:lumOff val="40000"/>
              </a:schemeClr>
            </a:gs>
            <a:gs pos="100000">
              <a:schemeClr val="accent5">
                <a:lumMod val="50000"/>
              </a:schemeClr>
            </a:gs>
          </a:gsLst>
          <a:lin ang="5400000" scaled="1"/>
        </a:gra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9554DF4C-EFD8-0278-F409-648ADB6CDCA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0864E7E-F5EC-21CE-10AD-B29D3C12733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302152"/>
          </a:xfrm>
        </p:spPr>
        <p:txBody>
          <a:bodyPr anchor="t">
            <a:normAutofit fontScale="90000"/>
          </a:bodyPr>
          <a:lstStyle/>
          <a:p>
            <a:pPr algn="ctr"/>
            <a:r>
              <a:rPr lang="en-US" sz="3600" b="1" dirty="0">
                <a:latin typeface="Agency FB" panose="020B0503020202020204" pitchFamily="34" charset="0"/>
              </a:rPr>
              <a:t>Kareem Abdul-Jabbar #2 </a:t>
            </a:r>
            <a:br>
              <a:rPr lang="en-US" sz="4000" b="1" dirty="0">
                <a:latin typeface="Agency FB" panose="020B0503020202020204" pitchFamily="34" charset="0"/>
              </a:rPr>
            </a:br>
            <a:r>
              <a:rPr lang="en-US" sz="4000" b="1" dirty="0">
                <a:latin typeface="Agency FB" panose="020B0503020202020204" pitchFamily="34" charset="0"/>
              </a:rPr>
              <a:t>233.04 Total Points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897C85B5-46BB-4309-6743-A9DA21501D0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5526288" cy="4343400"/>
          </a:xfrm>
        </p:spPr>
        <p:txBody>
          <a:bodyPr>
            <a:normAutofit/>
          </a:bodyPr>
          <a:lstStyle/>
          <a:p>
            <a:r>
              <a:rPr lang="en-US" sz="2800" b="1" dirty="0">
                <a:latin typeface="Agency FB" panose="020B0503020202020204" pitchFamily="34" charset="0"/>
              </a:rPr>
              <a:t>Points for Career Stats: 52.79 pts</a:t>
            </a:r>
          </a:p>
          <a:p>
            <a:r>
              <a:rPr lang="en-US" sz="2800" b="1" dirty="0">
                <a:latin typeface="Agency FB" panose="020B0503020202020204" pitchFamily="34" charset="0"/>
              </a:rPr>
              <a:t>Points for Winning/Accolades &amp; Longevity/SSP: 134.25 pts</a:t>
            </a:r>
          </a:p>
          <a:p>
            <a:r>
              <a:rPr lang="en-US" sz="2800" b="1" dirty="0">
                <a:latin typeface="Agency FB" panose="020B0503020202020204" pitchFamily="34" charset="0"/>
              </a:rPr>
              <a:t>Impact &amp; Legacy: 46/50</a:t>
            </a:r>
          </a:p>
          <a:p>
            <a:endParaRPr lang="en-US" sz="2800" b="1" dirty="0">
              <a:latin typeface="Agency FB" panose="020B0503020202020204" pitchFamily="34" charset="0"/>
            </a:endParaRPr>
          </a:p>
          <a:p>
            <a:r>
              <a:rPr lang="en-US" sz="2800" b="1" dirty="0">
                <a:latin typeface="Agency FB" panose="020B0503020202020204" pitchFamily="34" charset="0"/>
              </a:rPr>
              <a:t>Kareem 2 scoring titles,1 blocks title, 6 NBA Championships, 6 NBA MVPs &amp; won ROY in 1971. He has one of the most iconic shots in league history that was unstoppable. </a:t>
            </a:r>
            <a:endParaRPr lang="en-US" dirty="0"/>
          </a:p>
        </p:txBody>
      </p:sp>
      <p:pic>
        <p:nvPicPr>
          <p:cNvPr id="5" name="Picture 4" descr="A basketball player in a yellow jersey with a ball in his hand">
            <a:extLst>
              <a:ext uri="{FF2B5EF4-FFF2-40B4-BE49-F238E27FC236}">
                <a16:creationId xmlns:a16="http://schemas.microsoft.com/office/drawing/2014/main" id="{430C2B6C-B230-29D9-CC1C-7B4964246D0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643869" y="410901"/>
            <a:ext cx="4855652" cy="5914663"/>
          </a:xfrm>
          <a:prstGeom prst="rect">
            <a:avLst/>
          </a:prstGeom>
          <a:solidFill>
            <a:srgbClr val="FFFFFF">
              <a:shade val="85000"/>
            </a:srgbClr>
          </a:solidFill>
          <a:ln w="190500" cap="sq">
            <a:solidFill>
              <a:srgbClr val="FFFFFF"/>
            </a:solidFill>
            <a:miter lim="800000"/>
          </a:ln>
          <a:effectLst>
            <a:outerShdw blurRad="65000" dist="50800" dir="12900000" kx="195000" ky="145000" algn="tl" rotWithShape="0">
              <a:srgbClr val="000000">
                <a:alpha val="30000"/>
              </a:srgbClr>
            </a:outerShdw>
          </a:effectLst>
          <a:scene3d>
            <a:camera prst="orthographicFront">
              <a:rot lat="0" lon="0" rev="360000"/>
            </a:camera>
            <a:lightRig rig="twoPt" dir="t">
              <a:rot lat="0" lon="0" rev="7200000"/>
            </a:lightRig>
          </a:scene3d>
          <a:sp3d contourW="12700">
            <a:bevelT w="25400" h="19050"/>
            <a:contourClr>
              <a:srgbClr val="969696"/>
            </a:contourClr>
          </a:sp3d>
        </p:spPr>
      </p:pic>
    </p:spTree>
    <p:extLst>
      <p:ext uri="{BB962C8B-B14F-4D97-AF65-F5344CB8AC3E}">
        <p14:creationId xmlns:p14="http://schemas.microsoft.com/office/powerpoint/2010/main" val="228378674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chemeClr val="accent1">
                <a:lumMod val="5000"/>
                <a:lumOff val="95000"/>
              </a:schemeClr>
            </a:gs>
            <a:gs pos="59000">
              <a:schemeClr val="accent2">
                <a:lumMod val="75000"/>
              </a:schemeClr>
            </a:gs>
            <a:gs pos="87000">
              <a:srgbClr val="FFC000"/>
            </a:gs>
            <a:gs pos="100000">
              <a:srgbClr val="FFFF00"/>
            </a:gs>
          </a:gsLst>
          <a:lin ang="5400000" scaled="1"/>
        </a:gra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903FB773-F1F6-4C62-CB30-77B1F763D26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2B89E50-7436-A2ED-438A-B1016538618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302152"/>
          </a:xfrm>
        </p:spPr>
        <p:txBody>
          <a:bodyPr anchor="t">
            <a:normAutofit/>
          </a:bodyPr>
          <a:lstStyle/>
          <a:p>
            <a:pPr algn="ctr"/>
            <a:r>
              <a:rPr lang="en-US" sz="4000" b="1" dirty="0">
                <a:latin typeface="Agency FB" panose="020B0503020202020204" pitchFamily="34" charset="0"/>
              </a:rPr>
              <a:t>LeBron James #3 </a:t>
            </a:r>
            <a:br>
              <a:rPr lang="en-US" sz="4000" b="1" dirty="0">
                <a:latin typeface="Agency FB" panose="020B0503020202020204" pitchFamily="34" charset="0"/>
              </a:rPr>
            </a:br>
            <a:r>
              <a:rPr lang="en-US" sz="4000" b="1" dirty="0">
                <a:latin typeface="Agency FB" panose="020B0503020202020204" pitchFamily="34" charset="0"/>
              </a:rPr>
              <a:t>226.39 Total Points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5789B2A-298A-9566-8BA3-A05B34A32AD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5526288" cy="4343400"/>
          </a:xfrm>
        </p:spPr>
        <p:txBody>
          <a:bodyPr>
            <a:normAutofit/>
          </a:bodyPr>
          <a:lstStyle/>
          <a:p>
            <a:r>
              <a:rPr lang="en-US" sz="2800" b="1" dirty="0">
                <a:latin typeface="Agency FB" panose="020B0503020202020204" pitchFamily="34" charset="0"/>
              </a:rPr>
              <a:t>Points for Career Stats: 57.14 pts</a:t>
            </a:r>
          </a:p>
          <a:p>
            <a:r>
              <a:rPr lang="en-US" sz="2800" b="1" dirty="0">
                <a:latin typeface="Agency FB" panose="020B0503020202020204" pitchFamily="34" charset="0"/>
              </a:rPr>
              <a:t>Points for Winning/Accolades &amp; Longevity/SSP: 119.25 pts</a:t>
            </a:r>
          </a:p>
          <a:p>
            <a:r>
              <a:rPr lang="en-US" sz="2800" b="1" dirty="0">
                <a:latin typeface="Agency FB" panose="020B0503020202020204" pitchFamily="34" charset="0"/>
              </a:rPr>
              <a:t>Impact &amp; Legacy: 50/50</a:t>
            </a:r>
          </a:p>
          <a:p>
            <a:endParaRPr lang="en-US" sz="2800" b="1" dirty="0">
              <a:latin typeface="Agency FB" panose="020B0503020202020204" pitchFamily="34" charset="0"/>
            </a:endParaRPr>
          </a:p>
          <a:p>
            <a:r>
              <a:rPr lang="en-US" sz="2800" b="1" dirty="0">
                <a:latin typeface="Agency FB" panose="020B0503020202020204" pitchFamily="34" charset="0"/>
              </a:rPr>
              <a:t>LeBron has the most career points in history and has won 4 NBA Titles. He has also won 4 MVPs and was an all-defensive player 6 times in his 22-year career.</a:t>
            </a:r>
            <a:endParaRPr lang="en-US" dirty="0"/>
          </a:p>
        </p:txBody>
      </p:sp>
      <p:pic>
        <p:nvPicPr>
          <p:cNvPr id="6" name="Picture 5" descr="A basketball player in the air&#10;&#10;AI-generated content may be incorrect.">
            <a:extLst>
              <a:ext uri="{FF2B5EF4-FFF2-40B4-BE49-F238E27FC236}">
                <a16:creationId xmlns:a16="http://schemas.microsoft.com/office/drawing/2014/main" id="{8BDCFE2D-9BEF-8E4A-591B-71A04FB8062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999513" y="359229"/>
            <a:ext cx="4675670" cy="6041571"/>
          </a:xfrm>
          <a:prstGeom prst="rect">
            <a:avLst/>
          </a:prstGeom>
          <a:solidFill>
            <a:srgbClr val="FFFFFF">
              <a:shade val="85000"/>
            </a:srgbClr>
          </a:solidFill>
          <a:ln w="190500" cap="sq">
            <a:solidFill>
              <a:srgbClr val="FFFFFF"/>
            </a:solidFill>
            <a:miter lim="800000"/>
          </a:ln>
          <a:effectLst>
            <a:outerShdw blurRad="65000" dist="50800" dir="12900000" kx="195000" ky="145000" algn="tl" rotWithShape="0">
              <a:srgbClr val="000000">
                <a:alpha val="30000"/>
              </a:srgbClr>
            </a:outerShdw>
          </a:effectLst>
          <a:scene3d>
            <a:camera prst="orthographicFront">
              <a:rot lat="0" lon="0" rev="360000"/>
            </a:camera>
            <a:lightRig rig="twoPt" dir="t">
              <a:rot lat="0" lon="0" rev="7200000"/>
            </a:lightRig>
          </a:scene3d>
          <a:sp3d contourW="12700">
            <a:bevelT w="25400" h="19050"/>
            <a:contourClr>
              <a:srgbClr val="969696"/>
            </a:contourClr>
          </a:sp3d>
        </p:spPr>
      </p:pic>
    </p:spTree>
    <p:extLst>
      <p:ext uri="{BB962C8B-B14F-4D97-AF65-F5344CB8AC3E}">
        <p14:creationId xmlns:p14="http://schemas.microsoft.com/office/powerpoint/2010/main" val="151344478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chemeClr val="accent1">
                <a:lumMod val="5000"/>
                <a:lumOff val="95000"/>
              </a:schemeClr>
            </a:gs>
            <a:gs pos="59000">
              <a:srgbClr val="00B050"/>
            </a:gs>
            <a:gs pos="81000">
              <a:schemeClr val="accent6">
                <a:lumMod val="75000"/>
              </a:schemeClr>
            </a:gs>
            <a:gs pos="100000">
              <a:schemeClr val="bg2">
                <a:lumMod val="25000"/>
              </a:schemeClr>
            </a:gs>
          </a:gsLst>
          <a:lin ang="5400000" scaled="1"/>
        </a:gra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A499C75D-C769-02C8-5E31-53C82CDAECA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6085D60-18EA-2A6E-80F6-167067D37B3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302152"/>
          </a:xfrm>
        </p:spPr>
        <p:txBody>
          <a:bodyPr anchor="t">
            <a:normAutofit/>
          </a:bodyPr>
          <a:lstStyle/>
          <a:p>
            <a:pPr algn="ctr"/>
            <a:r>
              <a:rPr lang="en-US" sz="4000" b="1" dirty="0">
                <a:latin typeface="Agency FB" panose="020B0503020202020204" pitchFamily="34" charset="0"/>
              </a:rPr>
              <a:t>Bill Russell #4 </a:t>
            </a:r>
            <a:br>
              <a:rPr lang="en-US" sz="4000" b="1" dirty="0">
                <a:latin typeface="Agency FB" panose="020B0503020202020204" pitchFamily="34" charset="0"/>
              </a:rPr>
            </a:br>
            <a:r>
              <a:rPr lang="en-US" sz="4000" b="1" dirty="0">
                <a:latin typeface="Agency FB" panose="020B0503020202020204" pitchFamily="34" charset="0"/>
              </a:rPr>
              <a:t>202.35 Total Points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9825897-4BFB-CC25-FA38-B7FFAC331B7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5526288" cy="4343400"/>
          </a:xfrm>
        </p:spPr>
        <p:txBody>
          <a:bodyPr>
            <a:normAutofit/>
          </a:bodyPr>
          <a:lstStyle/>
          <a:p>
            <a:r>
              <a:rPr lang="en-US" sz="2800" b="1" dirty="0">
                <a:latin typeface="Agency FB" panose="020B0503020202020204" pitchFamily="34" charset="0"/>
              </a:rPr>
              <a:t>Points for Career Stats: 45.35 pts</a:t>
            </a:r>
          </a:p>
          <a:p>
            <a:r>
              <a:rPr lang="en-US" sz="2800" b="1" dirty="0">
                <a:latin typeface="Agency FB" panose="020B0503020202020204" pitchFamily="34" charset="0"/>
              </a:rPr>
              <a:t>Points for Winning/Accolades &amp; Longevity/SSP: 110 pts</a:t>
            </a:r>
          </a:p>
          <a:p>
            <a:r>
              <a:rPr lang="en-US" sz="2800" b="1" dirty="0">
                <a:latin typeface="Agency FB" panose="020B0503020202020204" pitchFamily="34" charset="0"/>
              </a:rPr>
              <a:t>Impact &amp; Legacy: 47/50</a:t>
            </a:r>
          </a:p>
          <a:p>
            <a:r>
              <a:rPr lang="en-US" sz="2800" b="1" dirty="0">
                <a:latin typeface="Agency FB" panose="020B0503020202020204" pitchFamily="34" charset="0"/>
              </a:rPr>
              <a:t>Bill Russell is considered the greatest winner in NBA History with 11 titles with the Boston Celtics. He played with 7 other hall of famers in his 13-year career and averaged an incredible 22.5 rebounds. </a:t>
            </a:r>
          </a:p>
        </p:txBody>
      </p:sp>
      <p:pic>
        <p:nvPicPr>
          <p:cNvPr id="5" name="Picture 4" descr="A basketball player dribbling a ball">
            <a:extLst>
              <a:ext uri="{FF2B5EF4-FFF2-40B4-BE49-F238E27FC236}">
                <a16:creationId xmlns:a16="http://schemas.microsoft.com/office/drawing/2014/main" id="{3FF0FFE2-1E5B-0E67-E4F0-32793C8F851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912428" y="424543"/>
            <a:ext cx="4682967" cy="5976257"/>
          </a:xfrm>
          <a:prstGeom prst="rect">
            <a:avLst/>
          </a:prstGeom>
          <a:solidFill>
            <a:srgbClr val="FFFFFF">
              <a:shade val="85000"/>
            </a:srgbClr>
          </a:solidFill>
          <a:ln w="190500" cap="sq">
            <a:solidFill>
              <a:srgbClr val="FFFFFF"/>
            </a:solidFill>
            <a:miter lim="800000"/>
          </a:ln>
          <a:effectLst>
            <a:outerShdw blurRad="65000" dist="50800" dir="12900000" kx="195000" ky="145000" algn="tl" rotWithShape="0">
              <a:srgbClr val="000000">
                <a:alpha val="30000"/>
              </a:srgbClr>
            </a:outerShdw>
          </a:effectLst>
          <a:scene3d>
            <a:camera prst="orthographicFront">
              <a:rot lat="0" lon="0" rev="360000"/>
            </a:camera>
            <a:lightRig rig="twoPt" dir="t">
              <a:rot lat="0" lon="0" rev="7200000"/>
            </a:lightRig>
          </a:scene3d>
          <a:sp3d contourW="12700">
            <a:bevelT w="25400" h="19050"/>
            <a:contourClr>
              <a:srgbClr val="969696"/>
            </a:contourClr>
          </a:sp3d>
        </p:spPr>
      </p:pic>
    </p:spTree>
    <p:extLst>
      <p:ext uri="{BB962C8B-B14F-4D97-AF65-F5344CB8AC3E}">
        <p14:creationId xmlns:p14="http://schemas.microsoft.com/office/powerpoint/2010/main" val="147669558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chemeClr val="accent1">
                <a:lumMod val="5000"/>
                <a:lumOff val="95000"/>
              </a:schemeClr>
            </a:gs>
            <a:gs pos="59000">
              <a:srgbClr val="FFFF00"/>
            </a:gs>
            <a:gs pos="81000">
              <a:schemeClr val="accent5">
                <a:lumMod val="60000"/>
                <a:lumOff val="40000"/>
              </a:schemeClr>
            </a:gs>
            <a:gs pos="100000">
              <a:srgbClr val="7030A0"/>
            </a:gs>
          </a:gsLst>
          <a:lin ang="5400000" scaled="1"/>
        </a:gra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3F76B299-CA66-D600-0B6D-B904087D929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843F8A0-E8E8-A365-A717-007B59BB999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302152"/>
          </a:xfrm>
        </p:spPr>
        <p:txBody>
          <a:bodyPr anchor="t">
            <a:normAutofit/>
          </a:bodyPr>
          <a:lstStyle/>
          <a:p>
            <a:pPr algn="ctr"/>
            <a:r>
              <a:rPr lang="en-US" sz="4000" b="1" dirty="0">
                <a:latin typeface="Agency FB" panose="020B0503020202020204" pitchFamily="34" charset="0"/>
              </a:rPr>
              <a:t>Kobe Bryant #5 </a:t>
            </a:r>
            <a:br>
              <a:rPr lang="en-US" sz="4000" b="1" dirty="0">
                <a:latin typeface="Agency FB" panose="020B0503020202020204" pitchFamily="34" charset="0"/>
              </a:rPr>
            </a:br>
            <a:r>
              <a:rPr lang="en-US" sz="4000" b="1" dirty="0">
                <a:latin typeface="Agency FB" panose="020B0503020202020204" pitchFamily="34" charset="0"/>
              </a:rPr>
              <a:t>200.04 Total Points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F9B7E0E-7782-6265-2470-A06F18EC665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5526288" cy="4343400"/>
          </a:xfrm>
        </p:spPr>
        <p:txBody>
          <a:bodyPr>
            <a:normAutofit/>
          </a:bodyPr>
          <a:lstStyle/>
          <a:p>
            <a:r>
              <a:rPr lang="en-US" sz="2800" b="1" dirty="0">
                <a:latin typeface="Agency FB" panose="020B0503020202020204" pitchFamily="34" charset="0"/>
              </a:rPr>
              <a:t>Points for Career Stats: 49.04 pts</a:t>
            </a:r>
          </a:p>
          <a:p>
            <a:r>
              <a:rPr lang="en-US" sz="2800" b="1" dirty="0">
                <a:latin typeface="Agency FB" panose="020B0503020202020204" pitchFamily="34" charset="0"/>
              </a:rPr>
              <a:t>Points for Winning/Accolades &amp; Longevity/SSP: 101 pts</a:t>
            </a:r>
          </a:p>
          <a:p>
            <a:r>
              <a:rPr lang="en-US" sz="2800" b="1" dirty="0">
                <a:latin typeface="Agency FB" panose="020B0503020202020204" pitchFamily="34" charset="0"/>
              </a:rPr>
              <a:t>Impact &amp; Legacy: 50/50</a:t>
            </a:r>
          </a:p>
          <a:p>
            <a:r>
              <a:rPr lang="en-US" sz="2800" b="1" dirty="0">
                <a:latin typeface="Agency FB" panose="020B0503020202020204" pitchFamily="34" charset="0"/>
              </a:rPr>
              <a:t>Kobe Bryant has been noticed as one of the hardest working superstars in league history. He has 5 NBA Championships and won the MVP in 2008. He has 33,643 career points placing him 4</a:t>
            </a:r>
            <a:r>
              <a:rPr lang="en-US" sz="2800" b="1" baseline="30000" dirty="0">
                <a:latin typeface="Agency FB" panose="020B0503020202020204" pitchFamily="34" charset="0"/>
              </a:rPr>
              <a:t>th</a:t>
            </a:r>
            <a:r>
              <a:rPr lang="en-US" sz="2800" b="1" dirty="0">
                <a:latin typeface="Agency FB" panose="020B0503020202020204" pitchFamily="34" charset="0"/>
              </a:rPr>
              <a:t> all-time; Kobe is one of the most prolific scorers ever. </a:t>
            </a:r>
          </a:p>
        </p:txBody>
      </p:sp>
      <p:pic>
        <p:nvPicPr>
          <p:cNvPr id="6" name="Picture 5" descr="A basketball player dunking a basketball hoop">
            <a:extLst>
              <a:ext uri="{FF2B5EF4-FFF2-40B4-BE49-F238E27FC236}">
                <a16:creationId xmlns:a16="http://schemas.microsoft.com/office/drawing/2014/main" id="{227D3436-754F-9F68-1C76-0FAD7093F93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803570" y="664028"/>
            <a:ext cx="4767943" cy="5736771"/>
          </a:xfrm>
          <a:prstGeom prst="rect">
            <a:avLst/>
          </a:prstGeom>
          <a:solidFill>
            <a:srgbClr val="FFFFFF">
              <a:shade val="85000"/>
            </a:srgbClr>
          </a:solidFill>
          <a:ln w="190500" cap="sq">
            <a:solidFill>
              <a:srgbClr val="FFFFFF"/>
            </a:solidFill>
            <a:miter lim="800000"/>
          </a:ln>
          <a:effectLst>
            <a:outerShdw blurRad="65000" dist="50800" dir="12900000" kx="195000" ky="145000" algn="tl" rotWithShape="0">
              <a:srgbClr val="000000">
                <a:alpha val="30000"/>
              </a:srgbClr>
            </a:outerShdw>
          </a:effectLst>
          <a:scene3d>
            <a:camera prst="orthographicFront">
              <a:rot lat="0" lon="0" rev="360000"/>
            </a:camera>
            <a:lightRig rig="twoPt" dir="t">
              <a:rot lat="0" lon="0" rev="7200000"/>
            </a:lightRig>
          </a:scene3d>
          <a:sp3d contourW="12700">
            <a:bevelT w="25400" h="19050"/>
            <a:contourClr>
              <a:srgbClr val="969696"/>
            </a:contourClr>
          </a:sp3d>
        </p:spPr>
      </p:pic>
    </p:spTree>
    <p:extLst>
      <p:ext uri="{BB962C8B-B14F-4D97-AF65-F5344CB8AC3E}">
        <p14:creationId xmlns:p14="http://schemas.microsoft.com/office/powerpoint/2010/main" val="732832584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chemeClr val="accent1">
                <a:lumMod val="5000"/>
                <a:lumOff val="95000"/>
              </a:schemeClr>
            </a:gs>
            <a:gs pos="59000">
              <a:srgbClr val="FFFF00"/>
            </a:gs>
            <a:gs pos="81000">
              <a:schemeClr val="accent5">
                <a:lumMod val="60000"/>
                <a:lumOff val="40000"/>
              </a:schemeClr>
            </a:gs>
            <a:gs pos="100000">
              <a:srgbClr val="7030A0"/>
            </a:gs>
          </a:gsLst>
          <a:lin ang="5400000" scaled="1"/>
        </a:gra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CEA9FF4A-AE2F-ACD8-E302-1DF40B44EEE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13E5FCD-F9DC-BF63-629B-85FBF7A72D4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302152"/>
          </a:xfrm>
        </p:spPr>
        <p:txBody>
          <a:bodyPr anchor="t">
            <a:normAutofit/>
          </a:bodyPr>
          <a:lstStyle/>
          <a:p>
            <a:pPr algn="ctr"/>
            <a:r>
              <a:rPr lang="en-US" sz="4000" b="1" dirty="0">
                <a:latin typeface="Agency FB" panose="020B0503020202020204" pitchFamily="34" charset="0"/>
              </a:rPr>
              <a:t>Wilt Chamberlain #6 </a:t>
            </a:r>
            <a:br>
              <a:rPr lang="en-US" sz="4000" b="1" dirty="0">
                <a:latin typeface="Agency FB" panose="020B0503020202020204" pitchFamily="34" charset="0"/>
              </a:rPr>
            </a:br>
            <a:r>
              <a:rPr lang="en-US" sz="4000" b="1" dirty="0">
                <a:latin typeface="Agency FB" panose="020B0503020202020204" pitchFamily="34" charset="0"/>
              </a:rPr>
              <a:t>195.28 Total Points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835FA76-7AF9-0A5E-9C77-21926990D39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5526288" cy="4343400"/>
          </a:xfrm>
        </p:spPr>
        <p:txBody>
          <a:bodyPr>
            <a:normAutofit/>
          </a:bodyPr>
          <a:lstStyle/>
          <a:p>
            <a:r>
              <a:rPr lang="en-US" sz="2800" b="1" dirty="0">
                <a:latin typeface="Agency FB" panose="020B0503020202020204" pitchFamily="34" charset="0"/>
              </a:rPr>
              <a:t>Points for Career Stats: 63.03 pts</a:t>
            </a:r>
          </a:p>
          <a:p>
            <a:r>
              <a:rPr lang="en-US" sz="2800" b="1" dirty="0">
                <a:latin typeface="Agency FB" panose="020B0503020202020204" pitchFamily="34" charset="0"/>
              </a:rPr>
              <a:t>Points for Winning/Accolades &amp; Longevity/SSP: 90.25 pts</a:t>
            </a:r>
          </a:p>
          <a:p>
            <a:r>
              <a:rPr lang="en-US" sz="2800" b="1" dirty="0">
                <a:latin typeface="Agency FB" panose="020B0503020202020204" pitchFamily="34" charset="0"/>
              </a:rPr>
              <a:t>Impact &amp; Legacy: 42/50</a:t>
            </a:r>
          </a:p>
          <a:p>
            <a:r>
              <a:rPr lang="en-US" sz="2800" b="1" dirty="0">
                <a:latin typeface="Agency FB" panose="020B0503020202020204" pitchFamily="34" charset="0"/>
              </a:rPr>
              <a:t>Wilt Chamberlain has the most impressive ‘per-game’ stat profile in history; averaging 30 PPG &amp; 22.9 RPG. He led the league 11 times in total rebounds &amp; is the owner of the only 100pt game in history (1962).</a:t>
            </a:r>
          </a:p>
        </p:txBody>
      </p:sp>
      <p:pic>
        <p:nvPicPr>
          <p:cNvPr id="8" name="Picture 7" descr="A basketball player holding a ball">
            <a:extLst>
              <a:ext uri="{FF2B5EF4-FFF2-40B4-BE49-F238E27FC236}">
                <a16:creationId xmlns:a16="http://schemas.microsoft.com/office/drawing/2014/main" id="{56D8E4F7-F60D-F37C-E0E0-661B1D318F8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836228" y="457199"/>
            <a:ext cx="4680858" cy="5812971"/>
          </a:xfrm>
          <a:prstGeom prst="rect">
            <a:avLst/>
          </a:prstGeom>
          <a:solidFill>
            <a:srgbClr val="FFFFFF">
              <a:shade val="85000"/>
            </a:srgbClr>
          </a:solidFill>
          <a:ln w="190500" cap="sq">
            <a:solidFill>
              <a:srgbClr val="FFFFFF"/>
            </a:solidFill>
            <a:miter lim="800000"/>
          </a:ln>
          <a:effectLst>
            <a:outerShdw blurRad="65000" dist="50800" dir="12900000" kx="195000" ky="145000" algn="tl" rotWithShape="0">
              <a:srgbClr val="000000">
                <a:alpha val="30000"/>
              </a:srgbClr>
            </a:outerShdw>
          </a:effectLst>
          <a:scene3d>
            <a:camera prst="orthographicFront">
              <a:rot lat="0" lon="0" rev="360000"/>
            </a:camera>
            <a:lightRig rig="twoPt" dir="t">
              <a:rot lat="0" lon="0" rev="7200000"/>
            </a:lightRig>
          </a:scene3d>
          <a:sp3d contourW="12700">
            <a:bevelT w="25400" h="19050"/>
            <a:contourClr>
              <a:srgbClr val="969696"/>
            </a:contourClr>
          </a:sp3d>
        </p:spPr>
      </p:pic>
    </p:spTree>
    <p:extLst>
      <p:ext uri="{BB962C8B-B14F-4D97-AF65-F5344CB8AC3E}">
        <p14:creationId xmlns:p14="http://schemas.microsoft.com/office/powerpoint/2010/main" val="2689900074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chemeClr val="accent1">
                <a:lumMod val="5000"/>
                <a:lumOff val="95000"/>
              </a:schemeClr>
            </a:gs>
            <a:gs pos="58000">
              <a:schemeClr val="bg2">
                <a:lumMod val="75000"/>
              </a:schemeClr>
            </a:gs>
            <a:gs pos="81000">
              <a:schemeClr val="bg2">
                <a:lumMod val="75000"/>
              </a:schemeClr>
            </a:gs>
            <a:gs pos="100000">
              <a:schemeClr val="bg2">
                <a:lumMod val="25000"/>
              </a:schemeClr>
            </a:gs>
          </a:gsLst>
          <a:lin ang="5400000" scaled="1"/>
        </a:gra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194C3D21-A43C-1E2A-DA3B-194FFC68F2F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FB5C277-84BE-A71C-B16E-3C05EF70604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302152"/>
          </a:xfrm>
        </p:spPr>
        <p:txBody>
          <a:bodyPr anchor="t">
            <a:normAutofit/>
          </a:bodyPr>
          <a:lstStyle/>
          <a:p>
            <a:pPr algn="ctr"/>
            <a:r>
              <a:rPr lang="en-US" sz="4000" b="1" dirty="0">
                <a:latin typeface="Agency FB" panose="020B0503020202020204" pitchFamily="34" charset="0"/>
              </a:rPr>
              <a:t>Tim Duncan #7 </a:t>
            </a:r>
            <a:br>
              <a:rPr lang="en-US" sz="4000" b="1" dirty="0">
                <a:latin typeface="Agency FB" panose="020B0503020202020204" pitchFamily="34" charset="0"/>
              </a:rPr>
            </a:br>
            <a:r>
              <a:rPr lang="en-US" sz="4000" b="1" dirty="0">
                <a:latin typeface="Agency FB" panose="020B0503020202020204" pitchFamily="34" charset="0"/>
              </a:rPr>
              <a:t>195.28 Total Points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1CD15076-715F-EE9F-E493-400504C8D52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5384774" cy="4343400"/>
          </a:xfrm>
        </p:spPr>
        <p:txBody>
          <a:bodyPr>
            <a:normAutofit/>
          </a:bodyPr>
          <a:lstStyle/>
          <a:p>
            <a:r>
              <a:rPr lang="en-US" sz="2800" b="1" dirty="0">
                <a:latin typeface="Agency FB" panose="020B0503020202020204" pitchFamily="34" charset="0"/>
              </a:rPr>
              <a:t>Points for Career Stats: 51.07 pts</a:t>
            </a:r>
          </a:p>
          <a:p>
            <a:r>
              <a:rPr lang="en-US" sz="2800" b="1" dirty="0">
                <a:latin typeface="Agency FB" panose="020B0503020202020204" pitchFamily="34" charset="0"/>
              </a:rPr>
              <a:t>Points for Winning/Accolades &amp; Longevity/SSP: 109.75 pts</a:t>
            </a:r>
          </a:p>
          <a:p>
            <a:r>
              <a:rPr lang="en-US" sz="2800" b="1" dirty="0">
                <a:latin typeface="Agency FB" panose="020B0503020202020204" pitchFamily="34" charset="0"/>
              </a:rPr>
              <a:t>Impact &amp; Legacy: 32/50</a:t>
            </a:r>
          </a:p>
          <a:p>
            <a:r>
              <a:rPr lang="en-US" sz="2800" b="1" dirty="0">
                <a:latin typeface="Agency FB" panose="020B0503020202020204" pitchFamily="34" charset="0"/>
              </a:rPr>
              <a:t>Tim Duncan has the most All-NBA Accolades of all-time; with 15 All-NBA teams and 15 All-Defensive teams. He has won NBA championships in 3 different decades. Duncan is one of the 3 best 2-way players of all-time. </a:t>
            </a:r>
          </a:p>
        </p:txBody>
      </p:sp>
      <p:pic>
        <p:nvPicPr>
          <p:cNvPr id="5" name="Picture 4" descr="A basketball player in a uniform">
            <a:extLst>
              <a:ext uri="{FF2B5EF4-FFF2-40B4-BE49-F238E27FC236}">
                <a16:creationId xmlns:a16="http://schemas.microsoft.com/office/drawing/2014/main" id="{FF85CB1F-8C48-E6FB-1138-253627CA3FF0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224562" y="457200"/>
            <a:ext cx="5619095" cy="4427111"/>
          </a:xfrm>
          <a:prstGeom prst="rect">
            <a:avLst/>
          </a:prstGeom>
          <a:solidFill>
            <a:srgbClr val="FFFFFF">
              <a:shade val="85000"/>
            </a:srgbClr>
          </a:solidFill>
          <a:ln w="190500" cap="sq">
            <a:solidFill>
              <a:srgbClr val="FFFFFF"/>
            </a:solidFill>
            <a:miter lim="800000"/>
          </a:ln>
          <a:effectLst>
            <a:outerShdw blurRad="65000" dist="50800" dir="12900000" kx="195000" ky="145000" algn="tl" rotWithShape="0">
              <a:srgbClr val="000000">
                <a:alpha val="30000"/>
              </a:srgbClr>
            </a:outerShdw>
          </a:effectLst>
          <a:scene3d>
            <a:camera prst="orthographicFront">
              <a:rot lat="0" lon="0" rev="360000"/>
            </a:camera>
            <a:lightRig rig="twoPt" dir="t">
              <a:rot lat="0" lon="0" rev="7200000"/>
            </a:lightRig>
          </a:scene3d>
          <a:sp3d contourW="12700">
            <a:bevelT w="25400" h="19050"/>
            <a:contourClr>
              <a:srgbClr val="969696"/>
            </a:contourClr>
          </a:sp3d>
        </p:spPr>
      </p:pic>
    </p:spTree>
    <p:extLst>
      <p:ext uri="{BB962C8B-B14F-4D97-AF65-F5344CB8AC3E}">
        <p14:creationId xmlns:p14="http://schemas.microsoft.com/office/powerpoint/2010/main" val="1607061803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chemeClr val="accent1">
                <a:lumMod val="5000"/>
                <a:lumOff val="95000"/>
              </a:schemeClr>
            </a:gs>
            <a:gs pos="58000">
              <a:schemeClr val="accent5">
                <a:lumMod val="40000"/>
                <a:lumOff val="60000"/>
              </a:schemeClr>
            </a:gs>
            <a:gs pos="81000">
              <a:srgbClr val="7030A0"/>
            </a:gs>
            <a:gs pos="100000">
              <a:srgbClr val="FFFF00"/>
            </a:gs>
          </a:gsLst>
          <a:lin ang="5400000" scaled="1"/>
        </a:gra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15B7E863-5388-EBDC-9A0A-CA3725EC9D7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D733C4D-073B-171D-D498-5C45F90CB68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302152"/>
          </a:xfrm>
        </p:spPr>
        <p:txBody>
          <a:bodyPr anchor="t">
            <a:normAutofit/>
          </a:bodyPr>
          <a:lstStyle/>
          <a:p>
            <a:pPr algn="ctr"/>
            <a:r>
              <a:rPr lang="en-US" sz="4000" b="1" dirty="0">
                <a:latin typeface="Agency FB" panose="020B0503020202020204" pitchFamily="34" charset="0"/>
              </a:rPr>
              <a:t>Magic Johnson #8 </a:t>
            </a:r>
            <a:br>
              <a:rPr lang="en-US" sz="4000" b="1" dirty="0">
                <a:latin typeface="Agency FB" panose="020B0503020202020204" pitchFamily="34" charset="0"/>
              </a:rPr>
            </a:br>
            <a:r>
              <a:rPr lang="en-US" sz="4000" b="1" dirty="0">
                <a:latin typeface="Agency FB" panose="020B0503020202020204" pitchFamily="34" charset="0"/>
              </a:rPr>
              <a:t>184.13 Total Points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D1E57E01-ACDB-EFB3-E9BC-31B1F39E89F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5384774" cy="4343400"/>
          </a:xfrm>
        </p:spPr>
        <p:txBody>
          <a:bodyPr>
            <a:normAutofit/>
          </a:bodyPr>
          <a:lstStyle/>
          <a:p>
            <a:r>
              <a:rPr lang="en-US" sz="2800" b="1" dirty="0">
                <a:latin typeface="Agency FB" panose="020B0503020202020204" pitchFamily="34" charset="0"/>
              </a:rPr>
              <a:t>Points for Career Stats: 51.07 pts</a:t>
            </a:r>
          </a:p>
          <a:p>
            <a:r>
              <a:rPr lang="en-US" sz="2800" b="1" dirty="0">
                <a:latin typeface="Agency FB" panose="020B0503020202020204" pitchFamily="34" charset="0"/>
              </a:rPr>
              <a:t>Points for Winning/Accolades &amp; Longevity/SSP: 109.75 pts</a:t>
            </a:r>
          </a:p>
          <a:p>
            <a:r>
              <a:rPr lang="en-US" sz="2800" b="1" dirty="0">
                <a:latin typeface="Agency FB" panose="020B0503020202020204" pitchFamily="34" charset="0"/>
              </a:rPr>
              <a:t>Impact &amp; Legacy: 32/50</a:t>
            </a:r>
          </a:p>
          <a:p>
            <a:r>
              <a:rPr lang="en-US" sz="2800" b="1" dirty="0">
                <a:latin typeface="Agency FB" panose="020B0503020202020204" pitchFamily="34" charset="0"/>
              </a:rPr>
              <a:t>Magic was the leader of the best team in the 80s: the “Showtime Lakers”. He won 5 titles during that decade and is widely considered the greatest point guard of all-time. Magic’s career was cut short but he is still a top 10 all-time great. </a:t>
            </a:r>
          </a:p>
          <a:p>
            <a:endParaRPr lang="en-US" sz="2800" b="1" dirty="0">
              <a:latin typeface="Agency FB" panose="020B0503020202020204" pitchFamily="34" charset="0"/>
            </a:endParaRPr>
          </a:p>
        </p:txBody>
      </p:sp>
      <p:pic>
        <p:nvPicPr>
          <p:cNvPr id="8" name="Picture 7" descr="A basketball player holding a ball">
            <a:extLst>
              <a:ext uri="{FF2B5EF4-FFF2-40B4-BE49-F238E27FC236}">
                <a16:creationId xmlns:a16="http://schemas.microsoft.com/office/drawing/2014/main" id="{745D0593-6A44-1541-91AE-BDD48676BBFE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923314" y="326571"/>
            <a:ext cx="4351793" cy="5812971"/>
          </a:xfrm>
          <a:prstGeom prst="rect">
            <a:avLst/>
          </a:prstGeom>
          <a:solidFill>
            <a:srgbClr val="FFFFFF">
              <a:shade val="85000"/>
            </a:srgbClr>
          </a:solidFill>
          <a:ln w="190500" cap="sq">
            <a:solidFill>
              <a:srgbClr val="FFFFFF"/>
            </a:solidFill>
            <a:miter lim="800000"/>
          </a:ln>
          <a:effectLst>
            <a:outerShdw blurRad="65000" dist="50800" dir="12900000" kx="195000" ky="145000" algn="tl" rotWithShape="0">
              <a:srgbClr val="000000">
                <a:alpha val="30000"/>
              </a:srgbClr>
            </a:outerShdw>
          </a:effectLst>
          <a:scene3d>
            <a:camera prst="orthographicFront">
              <a:rot lat="0" lon="0" rev="360000"/>
            </a:camera>
            <a:lightRig rig="twoPt" dir="t">
              <a:rot lat="0" lon="0" rev="7200000"/>
            </a:lightRig>
          </a:scene3d>
          <a:sp3d contourW="12700">
            <a:bevelT w="25400" h="19050"/>
            <a:contourClr>
              <a:srgbClr val="969696"/>
            </a:contourClr>
          </a:sp3d>
        </p:spPr>
      </p:pic>
    </p:spTree>
    <p:extLst>
      <p:ext uri="{BB962C8B-B14F-4D97-AF65-F5344CB8AC3E}">
        <p14:creationId xmlns:p14="http://schemas.microsoft.com/office/powerpoint/2010/main" val="4269121480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chemeClr val="accent1">
                <a:lumMod val="5000"/>
                <a:lumOff val="95000"/>
              </a:schemeClr>
            </a:gs>
            <a:gs pos="58000">
              <a:schemeClr val="accent3">
                <a:lumMod val="60000"/>
                <a:lumOff val="40000"/>
              </a:schemeClr>
            </a:gs>
            <a:gs pos="81000">
              <a:schemeClr val="accent6">
                <a:lumMod val="75000"/>
              </a:schemeClr>
            </a:gs>
            <a:gs pos="100000">
              <a:schemeClr val="accent3">
                <a:lumMod val="50000"/>
              </a:schemeClr>
            </a:gs>
          </a:gsLst>
          <a:lin ang="5400000" scaled="1"/>
        </a:gra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339A9216-53DF-B704-8321-CB5602759B8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7E149A7-A593-0B1B-B0B2-AC22ABF873E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199"/>
            <a:ext cx="3932237" cy="1480457"/>
          </a:xfrm>
        </p:spPr>
        <p:txBody>
          <a:bodyPr anchor="t">
            <a:normAutofit/>
          </a:bodyPr>
          <a:lstStyle/>
          <a:p>
            <a:pPr algn="ctr"/>
            <a:r>
              <a:rPr lang="en-US" sz="4000" b="1" dirty="0">
                <a:latin typeface="Agency FB" panose="020B0503020202020204" pitchFamily="34" charset="0"/>
              </a:rPr>
              <a:t>Larry Bird #9 </a:t>
            </a:r>
            <a:br>
              <a:rPr lang="en-US" sz="4000" b="1" dirty="0">
                <a:latin typeface="Agency FB" panose="020B0503020202020204" pitchFamily="34" charset="0"/>
              </a:rPr>
            </a:br>
            <a:r>
              <a:rPr lang="en-US" sz="4000" b="1" dirty="0">
                <a:latin typeface="Agency FB" panose="020B0503020202020204" pitchFamily="34" charset="0"/>
              </a:rPr>
              <a:t>179.22 Total Points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AC3B6E6-8F77-CE40-C142-4609C4134AF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5384774" cy="4343400"/>
          </a:xfrm>
        </p:spPr>
        <p:txBody>
          <a:bodyPr>
            <a:normAutofit lnSpcReduction="10000"/>
          </a:bodyPr>
          <a:lstStyle/>
          <a:p>
            <a:r>
              <a:rPr lang="en-US" sz="2800" b="1" dirty="0">
                <a:latin typeface="Agency FB" panose="020B0503020202020204" pitchFamily="34" charset="0"/>
              </a:rPr>
              <a:t>Points for Career Stats: 54.22 pts</a:t>
            </a:r>
          </a:p>
          <a:p>
            <a:r>
              <a:rPr lang="en-US" sz="2800" b="1" dirty="0">
                <a:latin typeface="Agency FB" panose="020B0503020202020204" pitchFamily="34" charset="0"/>
              </a:rPr>
              <a:t>Points for Winning/Accolades &amp; Longevity/SSP: 75 pts</a:t>
            </a:r>
          </a:p>
          <a:p>
            <a:r>
              <a:rPr lang="en-US" sz="2800" b="1" dirty="0">
                <a:latin typeface="Agency FB" panose="020B0503020202020204" pitchFamily="34" charset="0"/>
              </a:rPr>
              <a:t>Impact &amp; Legacy: 50/50</a:t>
            </a:r>
          </a:p>
          <a:p>
            <a:r>
              <a:rPr lang="en-US" sz="2800" b="1" dirty="0">
                <a:latin typeface="Agency FB" panose="020B0503020202020204" pitchFamily="34" charset="0"/>
              </a:rPr>
              <a:t>Larry Bird was a 3-time MVP who played against Magic, Jordan and the Pistons during the 80s. He is considered on of the smartest &amp; most skilled players in NBA history. While he wasn’t the most talented, players respect his legacy as legendary winner. </a:t>
            </a:r>
          </a:p>
        </p:txBody>
      </p:sp>
      <p:pic>
        <p:nvPicPr>
          <p:cNvPr id="7" name="Picture 6" descr="A basketball player in uniform with a ball in his hand">
            <a:extLst>
              <a:ext uri="{FF2B5EF4-FFF2-40B4-BE49-F238E27FC236}">
                <a16:creationId xmlns:a16="http://schemas.microsoft.com/office/drawing/2014/main" id="{A67AF0A2-5115-9F12-0815-5F06CEC3EC23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814458" y="293914"/>
            <a:ext cx="4745320" cy="6106886"/>
          </a:xfrm>
          <a:prstGeom prst="rect">
            <a:avLst/>
          </a:prstGeom>
          <a:solidFill>
            <a:srgbClr val="FFFFFF">
              <a:shade val="85000"/>
            </a:srgbClr>
          </a:solidFill>
          <a:ln w="190500" cap="sq">
            <a:solidFill>
              <a:srgbClr val="FFFFFF"/>
            </a:solidFill>
            <a:miter lim="800000"/>
          </a:ln>
          <a:effectLst>
            <a:outerShdw blurRad="65000" dist="50800" dir="12900000" kx="195000" ky="145000" algn="tl" rotWithShape="0">
              <a:srgbClr val="000000">
                <a:alpha val="30000"/>
              </a:srgbClr>
            </a:outerShdw>
          </a:effectLst>
          <a:scene3d>
            <a:camera prst="orthographicFront">
              <a:rot lat="0" lon="0" rev="360000"/>
            </a:camera>
            <a:lightRig rig="twoPt" dir="t">
              <a:rot lat="0" lon="0" rev="7200000"/>
            </a:lightRig>
          </a:scene3d>
          <a:sp3d contourW="12700">
            <a:bevelT w="25400" h="19050"/>
            <a:contourClr>
              <a:srgbClr val="969696"/>
            </a:contourClr>
          </a:sp3d>
        </p:spPr>
      </p:pic>
    </p:spTree>
    <p:extLst>
      <p:ext uri="{BB962C8B-B14F-4D97-AF65-F5344CB8AC3E}">
        <p14:creationId xmlns:p14="http://schemas.microsoft.com/office/powerpoint/2010/main" val="3105091171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chemeClr val="accent1">
                <a:lumMod val="5000"/>
                <a:lumOff val="95000"/>
              </a:schemeClr>
            </a:gs>
            <a:gs pos="58000">
              <a:schemeClr val="tx2">
                <a:lumMod val="50000"/>
                <a:lumOff val="50000"/>
              </a:schemeClr>
            </a:gs>
            <a:gs pos="81000">
              <a:srgbClr val="0070C0"/>
            </a:gs>
            <a:gs pos="100000">
              <a:schemeClr val="accent1">
                <a:lumMod val="50000"/>
              </a:schemeClr>
            </a:gs>
          </a:gsLst>
          <a:lin ang="5400000" scaled="1"/>
        </a:gra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4DD4ECC7-A052-3312-EF7A-76F744AE2F0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951010D-A635-AB5E-37A3-EF2DB309913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199"/>
            <a:ext cx="3932237" cy="1480457"/>
          </a:xfrm>
        </p:spPr>
        <p:txBody>
          <a:bodyPr anchor="t">
            <a:normAutofit/>
          </a:bodyPr>
          <a:lstStyle/>
          <a:p>
            <a:pPr algn="ctr"/>
            <a:r>
              <a:rPr lang="en-US" sz="4000" b="1" dirty="0">
                <a:latin typeface="Agency FB" panose="020B0503020202020204" pitchFamily="34" charset="0"/>
              </a:rPr>
              <a:t>Shaquille O’Neal #10</a:t>
            </a:r>
            <a:br>
              <a:rPr lang="en-US" sz="4000" b="1" dirty="0">
                <a:latin typeface="Agency FB" panose="020B0503020202020204" pitchFamily="34" charset="0"/>
              </a:rPr>
            </a:br>
            <a:r>
              <a:rPr lang="en-US" sz="4000" b="1" dirty="0">
                <a:latin typeface="Agency FB" panose="020B0503020202020204" pitchFamily="34" charset="0"/>
              </a:rPr>
              <a:t>174.43 Total Points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5B05F300-84BB-CD87-A6B0-B128E3D923D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5384774" cy="4343400"/>
          </a:xfrm>
        </p:spPr>
        <p:txBody>
          <a:bodyPr>
            <a:normAutofit/>
          </a:bodyPr>
          <a:lstStyle/>
          <a:p>
            <a:r>
              <a:rPr lang="en-US" sz="2800" b="1" dirty="0">
                <a:latin typeface="Agency FB" panose="020B0503020202020204" pitchFamily="34" charset="0"/>
              </a:rPr>
              <a:t>Points for Career Stats: 54.68 pts</a:t>
            </a:r>
          </a:p>
          <a:p>
            <a:r>
              <a:rPr lang="en-US" sz="2800" b="1" dirty="0">
                <a:latin typeface="Agency FB" panose="020B0503020202020204" pitchFamily="34" charset="0"/>
              </a:rPr>
              <a:t>Points for Winning/Accolades &amp; Longevity/SSP: 74.75 pts</a:t>
            </a:r>
          </a:p>
          <a:p>
            <a:r>
              <a:rPr lang="en-US" sz="2800" b="1" dirty="0">
                <a:latin typeface="Agency FB" panose="020B0503020202020204" pitchFamily="34" charset="0"/>
              </a:rPr>
              <a:t>Impact &amp; Legacy: 45/50</a:t>
            </a:r>
          </a:p>
          <a:p>
            <a:r>
              <a:rPr lang="en-US" sz="2800" b="1" dirty="0">
                <a:latin typeface="Agency FB" panose="020B0503020202020204" pitchFamily="34" charset="0"/>
              </a:rPr>
              <a:t>Shaq had a great career for 3 different teams. He played 5 seasons in Orlando and then won 3 NBA titles with the Lakers &amp; one with the Heat in 2006. He is arguably the most dominant big man to ever play basketball. </a:t>
            </a:r>
          </a:p>
        </p:txBody>
      </p:sp>
      <p:pic>
        <p:nvPicPr>
          <p:cNvPr id="8" name="Picture 7" descr="A basketball player dunking a basketball">
            <a:extLst>
              <a:ext uri="{FF2B5EF4-FFF2-40B4-BE49-F238E27FC236}">
                <a16:creationId xmlns:a16="http://schemas.microsoft.com/office/drawing/2014/main" id="{D75E1602-E967-611C-F9ED-2AD6B711189C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716486" y="457199"/>
            <a:ext cx="4920343" cy="5540829"/>
          </a:xfrm>
          <a:prstGeom prst="rect">
            <a:avLst/>
          </a:prstGeom>
          <a:solidFill>
            <a:srgbClr val="FFFFFF">
              <a:shade val="85000"/>
            </a:srgbClr>
          </a:solidFill>
          <a:ln w="190500" cap="sq">
            <a:solidFill>
              <a:srgbClr val="FFFFFF"/>
            </a:solidFill>
            <a:miter lim="800000"/>
          </a:ln>
          <a:effectLst>
            <a:outerShdw blurRad="65000" dist="50800" dir="12900000" kx="195000" ky="145000" algn="tl" rotWithShape="0">
              <a:srgbClr val="000000">
                <a:alpha val="30000"/>
              </a:srgbClr>
            </a:outerShdw>
          </a:effectLst>
          <a:scene3d>
            <a:camera prst="orthographicFront">
              <a:rot lat="0" lon="0" rev="360000"/>
            </a:camera>
            <a:lightRig rig="twoPt" dir="t">
              <a:rot lat="0" lon="0" rev="7200000"/>
            </a:lightRig>
          </a:scene3d>
          <a:sp3d contourW="12700">
            <a:bevelT w="25400" h="19050"/>
            <a:contourClr>
              <a:srgbClr val="969696"/>
            </a:contourClr>
          </a:sp3d>
        </p:spPr>
      </p:pic>
    </p:spTree>
    <p:extLst>
      <p:ext uri="{BB962C8B-B14F-4D97-AF65-F5344CB8AC3E}">
        <p14:creationId xmlns:p14="http://schemas.microsoft.com/office/powerpoint/2010/main" val="2725087349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chemeClr val="accent1">
                <a:lumMod val="5000"/>
                <a:lumOff val="95000"/>
              </a:schemeClr>
            </a:gs>
            <a:gs pos="39000">
              <a:srgbClr val="FF0000"/>
            </a:gs>
            <a:gs pos="60000">
              <a:srgbClr val="FFFF00"/>
            </a:gs>
            <a:gs pos="100000">
              <a:srgbClr val="FFC000"/>
            </a:gs>
          </a:gsLst>
          <a:lin ang="5400000" scaled="1"/>
        </a:gra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996E4572-29D6-A6AF-F6F8-561A8222639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6A1B3F1-3D23-9151-72F8-B44A00CCA46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199"/>
            <a:ext cx="3932237" cy="1480457"/>
          </a:xfrm>
        </p:spPr>
        <p:txBody>
          <a:bodyPr anchor="t">
            <a:normAutofit/>
          </a:bodyPr>
          <a:lstStyle/>
          <a:p>
            <a:pPr algn="ctr"/>
            <a:r>
              <a:rPr lang="en-US" sz="4000" b="1" dirty="0">
                <a:latin typeface="Agency FB" panose="020B0503020202020204" pitchFamily="34" charset="0"/>
              </a:rPr>
              <a:t>Hakeem Olajuwan #11</a:t>
            </a:r>
            <a:br>
              <a:rPr lang="en-US" sz="4000" b="1" dirty="0">
                <a:latin typeface="Agency FB" panose="020B0503020202020204" pitchFamily="34" charset="0"/>
              </a:rPr>
            </a:br>
            <a:r>
              <a:rPr lang="en-US" sz="4000" b="1" dirty="0">
                <a:latin typeface="Agency FB" panose="020B0503020202020204" pitchFamily="34" charset="0"/>
              </a:rPr>
              <a:t>158.64 Total Points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7EFAD99-B2E5-FFAD-9A6A-7EC49EDBA92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5384774" cy="4343400"/>
          </a:xfrm>
        </p:spPr>
        <p:txBody>
          <a:bodyPr>
            <a:normAutofit/>
          </a:bodyPr>
          <a:lstStyle/>
          <a:p>
            <a:r>
              <a:rPr lang="en-US" sz="2800" b="1" dirty="0">
                <a:latin typeface="Agency FB" panose="020B0503020202020204" pitchFamily="34" charset="0"/>
              </a:rPr>
              <a:t>Points for Career Stats: 54.64 pts</a:t>
            </a:r>
          </a:p>
          <a:p>
            <a:r>
              <a:rPr lang="en-US" sz="2800" b="1" dirty="0">
                <a:latin typeface="Agency FB" panose="020B0503020202020204" pitchFamily="34" charset="0"/>
              </a:rPr>
              <a:t>Points for Winning/Accolades &amp; Longevity/SSP: 74 pts</a:t>
            </a:r>
          </a:p>
          <a:p>
            <a:r>
              <a:rPr lang="en-US" sz="2800" b="1" dirty="0">
                <a:latin typeface="Agency FB" panose="020B0503020202020204" pitchFamily="34" charset="0"/>
              </a:rPr>
              <a:t>Impact &amp; Legacy: 30/50</a:t>
            </a:r>
          </a:p>
          <a:p>
            <a:r>
              <a:rPr lang="en-US" sz="2800" b="1" dirty="0">
                <a:latin typeface="Agency FB" panose="020B0503020202020204" pitchFamily="34" charset="0"/>
              </a:rPr>
              <a:t>Hakeem the Dream is regarded as “The Standard” for a classic big man in the NBA. He was a solid defender, had great post moves and averaged over 3.0 Blocks per game for his career; the all-time leader in career blocks (3,830)</a:t>
            </a:r>
          </a:p>
        </p:txBody>
      </p:sp>
      <p:pic>
        <p:nvPicPr>
          <p:cNvPr id="5" name="Picture 4" descr="A basketball player dribbling a ball">
            <a:extLst>
              <a:ext uri="{FF2B5EF4-FFF2-40B4-BE49-F238E27FC236}">
                <a16:creationId xmlns:a16="http://schemas.microsoft.com/office/drawing/2014/main" id="{1D5F1C1D-88F6-B53E-630F-9CDDD9211236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681763" y="539522"/>
            <a:ext cx="4748238" cy="5512935"/>
          </a:xfrm>
          <a:prstGeom prst="rect">
            <a:avLst/>
          </a:prstGeom>
          <a:solidFill>
            <a:srgbClr val="FFFFFF">
              <a:shade val="85000"/>
            </a:srgbClr>
          </a:solidFill>
          <a:ln w="190500" cap="sq">
            <a:solidFill>
              <a:srgbClr val="FFFFFF"/>
            </a:solidFill>
            <a:miter lim="800000"/>
          </a:ln>
          <a:effectLst>
            <a:outerShdw blurRad="65000" dist="50800" dir="12900000" kx="195000" ky="145000" algn="tl" rotWithShape="0">
              <a:srgbClr val="000000">
                <a:alpha val="30000"/>
              </a:srgbClr>
            </a:outerShdw>
          </a:effectLst>
          <a:scene3d>
            <a:camera prst="orthographicFront">
              <a:rot lat="0" lon="0" rev="360000"/>
            </a:camera>
            <a:lightRig rig="twoPt" dir="t">
              <a:rot lat="0" lon="0" rev="7200000"/>
            </a:lightRig>
          </a:scene3d>
          <a:sp3d contourW="12700">
            <a:bevelT w="25400" h="19050"/>
            <a:contourClr>
              <a:srgbClr val="969696"/>
            </a:contourClr>
          </a:sp3d>
        </p:spPr>
      </p:pic>
    </p:spTree>
    <p:extLst>
      <p:ext uri="{BB962C8B-B14F-4D97-AF65-F5344CB8AC3E}">
        <p14:creationId xmlns:p14="http://schemas.microsoft.com/office/powerpoint/2010/main" val="2461516927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chemeClr val="accent1">
                <a:lumMod val="5000"/>
                <a:lumOff val="95000"/>
              </a:schemeClr>
            </a:gs>
            <a:gs pos="27000">
              <a:schemeClr val="accent4">
                <a:lumMod val="50000"/>
              </a:schemeClr>
            </a:gs>
            <a:gs pos="60000">
              <a:srgbClr val="FFFF00"/>
            </a:gs>
            <a:gs pos="100000">
              <a:srgbClr val="FFC000"/>
            </a:gs>
          </a:gsLst>
          <a:lin ang="5400000" scaled="1"/>
        </a:gra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A512B825-CBCB-F66C-1DF5-76D1132518F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482ABAF-A1F9-F930-2D17-810F6065405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199"/>
            <a:ext cx="3932237" cy="1480457"/>
          </a:xfrm>
        </p:spPr>
        <p:txBody>
          <a:bodyPr anchor="t">
            <a:normAutofit/>
          </a:bodyPr>
          <a:lstStyle/>
          <a:p>
            <a:pPr algn="ctr"/>
            <a:r>
              <a:rPr lang="en-US" sz="4000" b="1" dirty="0">
                <a:latin typeface="Agency FB" panose="020B0503020202020204" pitchFamily="34" charset="0"/>
              </a:rPr>
              <a:t>Stephen Curry #12</a:t>
            </a:r>
            <a:br>
              <a:rPr lang="en-US" sz="4000" b="1" dirty="0">
                <a:latin typeface="Agency FB" panose="020B0503020202020204" pitchFamily="34" charset="0"/>
              </a:rPr>
            </a:br>
            <a:r>
              <a:rPr lang="en-US" sz="4000" b="1" dirty="0">
                <a:latin typeface="Agency FB" panose="020B0503020202020204" pitchFamily="34" charset="0"/>
              </a:rPr>
              <a:t>157.72 Total Points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546E8ED9-D97E-1BAF-214E-34439895B78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5384774" cy="4343400"/>
          </a:xfrm>
        </p:spPr>
        <p:txBody>
          <a:bodyPr>
            <a:normAutofit lnSpcReduction="10000"/>
          </a:bodyPr>
          <a:lstStyle/>
          <a:p>
            <a:r>
              <a:rPr lang="en-US" sz="2800" b="1" dirty="0">
                <a:latin typeface="Agency FB" panose="020B0503020202020204" pitchFamily="34" charset="0"/>
              </a:rPr>
              <a:t>Points for Career Stats: 46.47 pts</a:t>
            </a:r>
          </a:p>
          <a:p>
            <a:r>
              <a:rPr lang="en-US" sz="2800" b="1" dirty="0">
                <a:latin typeface="Agency FB" panose="020B0503020202020204" pitchFamily="34" charset="0"/>
              </a:rPr>
              <a:t>Points for Winning/Accolades &amp; Longevity/SSP: 61.25 pts</a:t>
            </a:r>
          </a:p>
          <a:p>
            <a:r>
              <a:rPr lang="en-US" sz="2800" b="1" dirty="0">
                <a:latin typeface="Agency FB" panose="020B0503020202020204" pitchFamily="34" charset="0"/>
              </a:rPr>
              <a:t>Impact &amp; Legacy: 50/50</a:t>
            </a:r>
          </a:p>
          <a:p>
            <a:r>
              <a:rPr lang="en-US" sz="2800" b="1" dirty="0">
                <a:latin typeface="Agency FB" panose="020B0503020202020204" pitchFamily="34" charset="0"/>
              </a:rPr>
              <a:t>Steph is on a one-name basis with the entire sports world. He is the greatest shooter God has ever created; all-time leader with 4058 3pt FG and counting! He has had plenty Olympic success as well (particularly last summer in the Gold Medal game). 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785A7BC7-EBE4-4392-2F1C-B048E9D1D721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019800" y="283029"/>
            <a:ext cx="5747657" cy="4789714"/>
          </a:xfrm>
          <a:prstGeom prst="rect">
            <a:avLst/>
          </a:prstGeom>
          <a:solidFill>
            <a:srgbClr val="FFFFFF">
              <a:shade val="85000"/>
            </a:srgbClr>
          </a:solidFill>
          <a:ln w="190500" cap="sq">
            <a:solidFill>
              <a:srgbClr val="FFFFFF"/>
            </a:solidFill>
            <a:miter lim="800000"/>
          </a:ln>
          <a:effectLst>
            <a:outerShdw blurRad="65000" dist="50800" dir="12900000" kx="195000" ky="145000" algn="tl" rotWithShape="0">
              <a:srgbClr val="000000">
                <a:alpha val="30000"/>
              </a:srgbClr>
            </a:outerShdw>
          </a:effectLst>
          <a:scene3d>
            <a:camera prst="orthographicFront">
              <a:rot lat="0" lon="0" rev="360000"/>
            </a:camera>
            <a:lightRig rig="twoPt" dir="t">
              <a:rot lat="0" lon="0" rev="7200000"/>
            </a:lightRig>
          </a:scene3d>
          <a:sp3d contourW="12700">
            <a:bevelT w="25400" h="19050"/>
            <a:contourClr>
              <a:srgbClr val="969696"/>
            </a:contourClr>
          </a:sp3d>
        </p:spPr>
      </p:pic>
    </p:spTree>
    <p:extLst>
      <p:ext uri="{BB962C8B-B14F-4D97-AF65-F5344CB8AC3E}">
        <p14:creationId xmlns:p14="http://schemas.microsoft.com/office/powerpoint/2010/main" val="1486230919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chemeClr val="accent1">
                <a:lumMod val="5000"/>
                <a:lumOff val="95000"/>
              </a:schemeClr>
            </a:gs>
            <a:gs pos="27000">
              <a:srgbClr val="FF0000"/>
            </a:gs>
            <a:gs pos="60000">
              <a:srgbClr val="0070C0"/>
            </a:gs>
            <a:gs pos="100000">
              <a:schemeClr val="bg2">
                <a:lumMod val="50000"/>
              </a:schemeClr>
            </a:gs>
          </a:gsLst>
          <a:lin ang="5400000" scaled="1"/>
        </a:gra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7C620ECB-5398-ABFF-2772-31515F348B8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0FB7307-6F3F-1749-51BF-1891B081DAE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199"/>
            <a:ext cx="3932237" cy="1480457"/>
          </a:xfrm>
        </p:spPr>
        <p:txBody>
          <a:bodyPr anchor="t">
            <a:normAutofit/>
          </a:bodyPr>
          <a:lstStyle/>
          <a:p>
            <a:pPr algn="ctr"/>
            <a:r>
              <a:rPr lang="en-US" sz="4000" b="1" dirty="0">
                <a:latin typeface="Agency FB" panose="020B0503020202020204" pitchFamily="34" charset="0"/>
              </a:rPr>
              <a:t>Julius Erving #13</a:t>
            </a:r>
            <a:br>
              <a:rPr lang="en-US" sz="4000" b="1" dirty="0">
                <a:latin typeface="Agency FB" panose="020B0503020202020204" pitchFamily="34" charset="0"/>
              </a:rPr>
            </a:br>
            <a:r>
              <a:rPr lang="en-US" sz="4000" b="1" dirty="0">
                <a:latin typeface="Agency FB" panose="020B0503020202020204" pitchFamily="34" charset="0"/>
              </a:rPr>
              <a:t>152.18 Total Points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5C440E2E-4863-97D6-DFE7-3046C770CC8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5384774" cy="4343400"/>
          </a:xfrm>
        </p:spPr>
        <p:txBody>
          <a:bodyPr>
            <a:normAutofit/>
          </a:bodyPr>
          <a:lstStyle/>
          <a:p>
            <a:r>
              <a:rPr lang="en-US" sz="2800" b="1" dirty="0">
                <a:latin typeface="Agency FB" panose="020B0503020202020204" pitchFamily="34" charset="0"/>
              </a:rPr>
              <a:t>Points for Career Stats: 49.62 pts</a:t>
            </a:r>
          </a:p>
          <a:p>
            <a:r>
              <a:rPr lang="en-US" sz="2800" b="1" dirty="0">
                <a:latin typeface="Agency FB" panose="020B0503020202020204" pitchFamily="34" charset="0"/>
              </a:rPr>
              <a:t>Points for Winning/Accolades &amp; Longevity/SSP: 56.5 pts</a:t>
            </a:r>
          </a:p>
          <a:p>
            <a:r>
              <a:rPr lang="en-US" sz="2800" b="1" dirty="0">
                <a:latin typeface="Agency FB" panose="020B0503020202020204" pitchFamily="34" charset="0"/>
              </a:rPr>
              <a:t>Impact &amp; Legacy: 46/50</a:t>
            </a:r>
          </a:p>
          <a:p>
            <a:r>
              <a:rPr lang="en-US" sz="2800" b="1" dirty="0">
                <a:latin typeface="Agency FB" panose="020B0503020202020204" pitchFamily="34" charset="0"/>
              </a:rPr>
              <a:t>Julius Erving was the guy who connected the ABA with the NBA to open the door for other legends to thrive. He is known for iconic dunks and a fresh new style from the 70s. Dr J won 4 MPPs and one NBA Championship. </a:t>
            </a:r>
          </a:p>
        </p:txBody>
      </p:sp>
      <p:pic>
        <p:nvPicPr>
          <p:cNvPr id="5" name="Picture 4" descr="A basketball player dunking a ball">
            <a:extLst>
              <a:ext uri="{FF2B5EF4-FFF2-40B4-BE49-F238E27FC236}">
                <a16:creationId xmlns:a16="http://schemas.microsoft.com/office/drawing/2014/main" id="{39D4E6BC-322D-4D6C-947B-D68BFBA93128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350225" y="587827"/>
            <a:ext cx="4720546" cy="5562601"/>
          </a:xfrm>
          <a:prstGeom prst="rect">
            <a:avLst/>
          </a:prstGeom>
          <a:solidFill>
            <a:srgbClr val="FFFFFF">
              <a:shade val="85000"/>
            </a:srgbClr>
          </a:solidFill>
          <a:ln w="190500" cap="sq">
            <a:solidFill>
              <a:srgbClr val="FFFFFF"/>
            </a:solidFill>
            <a:miter lim="800000"/>
          </a:ln>
          <a:effectLst>
            <a:outerShdw blurRad="65000" dist="50800" dir="12900000" kx="195000" ky="145000" algn="tl" rotWithShape="0">
              <a:srgbClr val="000000">
                <a:alpha val="30000"/>
              </a:srgbClr>
            </a:outerShdw>
          </a:effectLst>
          <a:scene3d>
            <a:camera prst="orthographicFront">
              <a:rot lat="0" lon="0" rev="360000"/>
            </a:camera>
            <a:lightRig rig="twoPt" dir="t">
              <a:rot lat="0" lon="0" rev="7200000"/>
            </a:lightRig>
          </a:scene3d>
          <a:sp3d contourW="12700">
            <a:bevelT w="25400" h="19050"/>
            <a:contourClr>
              <a:srgbClr val="969696"/>
            </a:contourClr>
          </a:sp3d>
        </p:spPr>
      </p:pic>
    </p:spTree>
    <p:extLst>
      <p:ext uri="{BB962C8B-B14F-4D97-AF65-F5344CB8AC3E}">
        <p14:creationId xmlns:p14="http://schemas.microsoft.com/office/powerpoint/2010/main" val="726034226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chemeClr val="accent1">
                <a:lumMod val="5000"/>
                <a:lumOff val="95000"/>
              </a:schemeClr>
            </a:gs>
            <a:gs pos="27000">
              <a:srgbClr val="7030A0"/>
            </a:gs>
            <a:gs pos="60000">
              <a:schemeClr val="accent5">
                <a:lumMod val="40000"/>
                <a:lumOff val="60000"/>
              </a:schemeClr>
            </a:gs>
            <a:gs pos="100000">
              <a:srgbClr val="FFFF00"/>
            </a:gs>
          </a:gsLst>
          <a:lin ang="5400000" scaled="1"/>
        </a:gra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7961A4EB-CCF5-A6F6-93EB-67A5D8059AF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61EC3C1-480B-6C56-ABC2-8DC1D05F01B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199"/>
            <a:ext cx="3932237" cy="1480457"/>
          </a:xfrm>
        </p:spPr>
        <p:txBody>
          <a:bodyPr anchor="t">
            <a:normAutofit/>
          </a:bodyPr>
          <a:lstStyle/>
          <a:p>
            <a:pPr algn="ctr"/>
            <a:r>
              <a:rPr lang="en-US" sz="4000" b="1" dirty="0">
                <a:latin typeface="Agency FB" panose="020B0503020202020204" pitchFamily="34" charset="0"/>
              </a:rPr>
              <a:t>Jerry West #14</a:t>
            </a:r>
            <a:br>
              <a:rPr lang="en-US" sz="4000" b="1" dirty="0">
                <a:latin typeface="Agency FB" panose="020B0503020202020204" pitchFamily="34" charset="0"/>
              </a:rPr>
            </a:br>
            <a:r>
              <a:rPr lang="en-US" sz="4000" b="1" dirty="0">
                <a:latin typeface="Agency FB" panose="020B0503020202020204" pitchFamily="34" charset="0"/>
              </a:rPr>
              <a:t>148.84 Total Points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B8DD9FB-E210-0BD8-2407-E940A6F4069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5384774" cy="4343400"/>
          </a:xfrm>
        </p:spPr>
        <p:txBody>
          <a:bodyPr>
            <a:normAutofit/>
          </a:bodyPr>
          <a:lstStyle/>
          <a:p>
            <a:r>
              <a:rPr lang="en-US" sz="2800" b="1" dirty="0">
                <a:latin typeface="Agency FB" panose="020B0503020202020204" pitchFamily="34" charset="0"/>
              </a:rPr>
              <a:t>Points for Career Stats: 42.84 pts</a:t>
            </a:r>
          </a:p>
          <a:p>
            <a:r>
              <a:rPr lang="en-US" sz="2800" b="1" dirty="0">
                <a:latin typeface="Agency FB" panose="020B0503020202020204" pitchFamily="34" charset="0"/>
              </a:rPr>
              <a:t>Points for Winning/Accolades &amp; Longevity/SSP: 58 pts</a:t>
            </a:r>
          </a:p>
          <a:p>
            <a:r>
              <a:rPr lang="en-US" sz="2800" b="1" dirty="0">
                <a:latin typeface="Agency FB" panose="020B0503020202020204" pitchFamily="34" charset="0"/>
              </a:rPr>
              <a:t>Impact &amp; Legacy: 48/50</a:t>
            </a:r>
          </a:p>
          <a:p>
            <a:r>
              <a:rPr lang="en-US" sz="2800" b="1" dirty="0">
                <a:latin typeface="Agency FB" panose="020B0503020202020204" pitchFamily="34" charset="0"/>
              </a:rPr>
              <a:t>Jerry West (aka The Logo) had a </a:t>
            </a:r>
          </a:p>
          <a:p>
            <a:r>
              <a:rPr lang="en-US" sz="2800" b="1" dirty="0">
                <a:latin typeface="Agency FB" panose="020B0503020202020204" pitchFamily="34" charset="0"/>
              </a:rPr>
              <a:t>Tremendous career making 10 All-NBA</a:t>
            </a:r>
          </a:p>
          <a:p>
            <a:r>
              <a:rPr lang="en-US" sz="2800" b="1" dirty="0">
                <a:latin typeface="Agency FB" panose="020B0503020202020204" pitchFamily="34" charset="0"/>
              </a:rPr>
              <a:t>1st Teams. West was a Finals MVP when he finally won the title in 1972</a:t>
            </a:r>
          </a:p>
          <a:p>
            <a:endParaRPr lang="en-US" sz="2800" b="1" dirty="0">
              <a:latin typeface="Agency FB" panose="020B0503020202020204" pitchFamily="34" charset="0"/>
            </a:endParaRPr>
          </a:p>
        </p:txBody>
      </p:sp>
      <p:pic>
        <p:nvPicPr>
          <p:cNvPr id="6" name="Picture 5" descr="A basketball player in a yellow jersey holding a basketball">
            <a:extLst>
              <a:ext uri="{FF2B5EF4-FFF2-40B4-BE49-F238E27FC236}">
                <a16:creationId xmlns:a16="http://schemas.microsoft.com/office/drawing/2014/main" id="{31E6296F-95C0-CE9D-02A8-2CAFFB35FFCB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451020" y="440870"/>
            <a:ext cx="6251121" cy="3788230"/>
          </a:xfrm>
          <a:prstGeom prst="rect">
            <a:avLst/>
          </a:prstGeom>
          <a:solidFill>
            <a:srgbClr val="FFFFFF">
              <a:shade val="85000"/>
            </a:srgbClr>
          </a:solidFill>
          <a:ln w="190500" cap="sq">
            <a:solidFill>
              <a:srgbClr val="FFFFFF"/>
            </a:solidFill>
            <a:miter lim="800000"/>
          </a:ln>
          <a:effectLst>
            <a:outerShdw blurRad="65000" dist="50800" dir="12900000" kx="195000" ky="145000" algn="tl" rotWithShape="0">
              <a:srgbClr val="000000">
                <a:alpha val="30000"/>
              </a:srgbClr>
            </a:outerShdw>
          </a:effectLst>
          <a:scene3d>
            <a:camera prst="orthographicFront">
              <a:rot lat="0" lon="0" rev="360000"/>
            </a:camera>
            <a:lightRig rig="twoPt" dir="t">
              <a:rot lat="0" lon="0" rev="7200000"/>
            </a:lightRig>
          </a:scene3d>
          <a:sp3d contourW="12700">
            <a:bevelT w="25400" h="19050"/>
            <a:contourClr>
              <a:srgbClr val="969696"/>
            </a:contourClr>
          </a:sp3d>
        </p:spPr>
      </p:pic>
    </p:spTree>
    <p:extLst>
      <p:ext uri="{BB962C8B-B14F-4D97-AF65-F5344CB8AC3E}">
        <p14:creationId xmlns:p14="http://schemas.microsoft.com/office/powerpoint/2010/main" val="993977237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chemeClr val="accent1">
                <a:lumMod val="5000"/>
                <a:lumOff val="95000"/>
              </a:schemeClr>
            </a:gs>
            <a:gs pos="27000">
              <a:schemeClr val="accent6">
                <a:lumMod val="60000"/>
                <a:lumOff val="40000"/>
              </a:schemeClr>
            </a:gs>
            <a:gs pos="60000">
              <a:schemeClr val="accent6">
                <a:lumMod val="50000"/>
              </a:schemeClr>
            </a:gs>
            <a:gs pos="100000">
              <a:schemeClr val="bg2">
                <a:lumMod val="50000"/>
              </a:schemeClr>
            </a:gs>
          </a:gsLst>
          <a:lin ang="5400000" scaled="1"/>
        </a:gra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D8C998F2-B640-6313-1CBE-FCC940F527E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31A7E1D-B15E-3FD1-44C8-C271312F070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199"/>
            <a:ext cx="3932237" cy="1480457"/>
          </a:xfrm>
        </p:spPr>
        <p:txBody>
          <a:bodyPr anchor="t">
            <a:normAutofit/>
          </a:bodyPr>
          <a:lstStyle/>
          <a:p>
            <a:pPr algn="ctr"/>
            <a:r>
              <a:rPr lang="en-US" sz="4000" b="1" dirty="0">
                <a:latin typeface="Agency FB" panose="020B0503020202020204" pitchFamily="34" charset="0"/>
              </a:rPr>
              <a:t>Kevin Garnett #15</a:t>
            </a:r>
            <a:br>
              <a:rPr lang="en-US" sz="4000" b="1" dirty="0">
                <a:latin typeface="Agency FB" panose="020B0503020202020204" pitchFamily="34" charset="0"/>
              </a:rPr>
            </a:br>
            <a:r>
              <a:rPr lang="en-US" sz="4000" b="1" dirty="0">
                <a:latin typeface="Agency FB" panose="020B0503020202020204" pitchFamily="34" charset="0"/>
              </a:rPr>
              <a:t>147.69 Total Points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D078DA7A-C823-084B-52D8-227800AA13A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5384774" cy="4343400"/>
          </a:xfrm>
        </p:spPr>
        <p:txBody>
          <a:bodyPr>
            <a:normAutofit/>
          </a:bodyPr>
          <a:lstStyle/>
          <a:p>
            <a:r>
              <a:rPr lang="en-US" sz="2800" b="1" dirty="0">
                <a:latin typeface="Agency FB" panose="020B0503020202020204" pitchFamily="34" charset="0"/>
              </a:rPr>
              <a:t>Points for Career Stats: 47.94 pts</a:t>
            </a:r>
          </a:p>
          <a:p>
            <a:r>
              <a:rPr lang="en-US" sz="2800" b="1" dirty="0">
                <a:latin typeface="Agency FB" panose="020B0503020202020204" pitchFamily="34" charset="0"/>
              </a:rPr>
              <a:t>Points for Winning/Accolades &amp; Longevity/SSP: 61.75 pts</a:t>
            </a:r>
          </a:p>
          <a:p>
            <a:r>
              <a:rPr lang="en-US" sz="2800" b="1" dirty="0">
                <a:latin typeface="Agency FB" panose="020B0503020202020204" pitchFamily="34" charset="0"/>
              </a:rPr>
              <a:t>Impact &amp; Legacy: 38/50</a:t>
            </a:r>
          </a:p>
          <a:p>
            <a:r>
              <a:rPr lang="en-US" sz="2800" b="1" dirty="0">
                <a:latin typeface="Agency FB" panose="020B0503020202020204" pitchFamily="34" charset="0"/>
              </a:rPr>
              <a:t>KG is one of he best 2-way power forwards of all time. He won DPOY in 2008 when the Celtics won their first title in 22 years. KG had a long and consistent career and contributes to the NBA with his commentary today. </a:t>
            </a:r>
          </a:p>
          <a:p>
            <a:endParaRPr lang="en-US" sz="2800" b="1" dirty="0">
              <a:latin typeface="Agency FB" panose="020B0503020202020204" pitchFamily="34" charset="0"/>
            </a:endParaRPr>
          </a:p>
        </p:txBody>
      </p:sp>
      <p:pic>
        <p:nvPicPr>
          <p:cNvPr id="5" name="Picture 4" descr="A person in a green jersey with a basketball in the air">
            <a:extLst>
              <a:ext uri="{FF2B5EF4-FFF2-40B4-BE49-F238E27FC236}">
                <a16:creationId xmlns:a16="http://schemas.microsoft.com/office/drawing/2014/main" id="{5948DAA9-402F-2428-F60D-4C71C9FC25DD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672943" y="576943"/>
            <a:ext cx="4575376" cy="5355771"/>
          </a:xfrm>
          <a:prstGeom prst="rect">
            <a:avLst/>
          </a:prstGeom>
          <a:solidFill>
            <a:srgbClr val="FFFFFF">
              <a:shade val="85000"/>
            </a:srgbClr>
          </a:solidFill>
          <a:ln w="190500" cap="sq">
            <a:solidFill>
              <a:srgbClr val="FFFFFF"/>
            </a:solidFill>
            <a:miter lim="800000"/>
          </a:ln>
          <a:effectLst>
            <a:outerShdw blurRad="65000" dist="50800" dir="12900000" kx="195000" ky="145000" algn="tl" rotWithShape="0">
              <a:srgbClr val="000000">
                <a:alpha val="30000"/>
              </a:srgbClr>
            </a:outerShdw>
          </a:effectLst>
          <a:scene3d>
            <a:camera prst="orthographicFront">
              <a:rot lat="0" lon="0" rev="360000"/>
            </a:camera>
            <a:lightRig rig="twoPt" dir="t">
              <a:rot lat="0" lon="0" rev="7200000"/>
            </a:lightRig>
          </a:scene3d>
          <a:sp3d contourW="12700">
            <a:bevelT w="25400" h="19050"/>
            <a:contourClr>
              <a:srgbClr val="969696"/>
            </a:contourClr>
          </a:sp3d>
        </p:spPr>
      </p:pic>
    </p:spTree>
    <p:extLst>
      <p:ext uri="{BB962C8B-B14F-4D97-AF65-F5344CB8AC3E}">
        <p14:creationId xmlns:p14="http://schemas.microsoft.com/office/powerpoint/2010/main" val="1579368580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chemeClr val="tx1">
                <a:lumMod val="95000"/>
                <a:lumOff val="5000"/>
              </a:schemeClr>
            </a:gs>
            <a:gs pos="25000">
              <a:schemeClr val="bg2">
                <a:lumMod val="10000"/>
              </a:schemeClr>
            </a:gs>
            <a:gs pos="73000">
              <a:schemeClr val="bg1">
                <a:lumMod val="95000"/>
              </a:schemeClr>
            </a:gs>
            <a:gs pos="100000">
              <a:schemeClr val="bg2">
                <a:lumMod val="50000"/>
              </a:schemeClr>
            </a:gs>
          </a:gsLst>
          <a:lin ang="5400000" scaled="1"/>
        </a:gra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B63FE8AD-D894-DE46-30C8-C3399351B6D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201A9A6-5DD9-2F07-6F00-8F13F4128DC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199"/>
            <a:ext cx="3932237" cy="1480457"/>
          </a:xfrm>
        </p:spPr>
        <p:txBody>
          <a:bodyPr anchor="t">
            <a:normAutofit/>
          </a:bodyPr>
          <a:lstStyle/>
          <a:p>
            <a:pPr algn="ctr"/>
            <a:r>
              <a:rPr lang="en-US" sz="4000" b="1" dirty="0">
                <a:solidFill>
                  <a:schemeClr val="bg1"/>
                </a:solidFill>
                <a:latin typeface="Agency FB" panose="020B0503020202020204" pitchFamily="34" charset="0"/>
              </a:rPr>
              <a:t>David Robinson #16</a:t>
            </a:r>
            <a:br>
              <a:rPr lang="en-US" sz="4000" b="1" dirty="0">
                <a:solidFill>
                  <a:schemeClr val="bg1"/>
                </a:solidFill>
                <a:latin typeface="Agency FB" panose="020B0503020202020204" pitchFamily="34" charset="0"/>
              </a:rPr>
            </a:br>
            <a:r>
              <a:rPr lang="en-US" sz="4000" b="1" dirty="0">
                <a:solidFill>
                  <a:schemeClr val="bg1"/>
                </a:solidFill>
                <a:latin typeface="Agency FB" panose="020B0503020202020204" pitchFamily="34" charset="0"/>
              </a:rPr>
              <a:t>144.32 Total Points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E10242B-FD59-0FBD-40E8-0B1BC079CD8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5384774" cy="4343400"/>
          </a:xfrm>
        </p:spPr>
        <p:txBody>
          <a:bodyPr>
            <a:normAutofit/>
          </a:bodyPr>
          <a:lstStyle/>
          <a:p>
            <a:r>
              <a:rPr lang="en-US" sz="2800" b="1" dirty="0">
                <a:solidFill>
                  <a:schemeClr val="bg1"/>
                </a:solidFill>
                <a:latin typeface="Agency FB" panose="020B0503020202020204" pitchFamily="34" charset="0"/>
              </a:rPr>
              <a:t>Points for Career Stats: 53.32 pts</a:t>
            </a:r>
          </a:p>
          <a:p>
            <a:r>
              <a:rPr lang="en-US" sz="2800" b="1" dirty="0">
                <a:solidFill>
                  <a:schemeClr val="bg1"/>
                </a:solidFill>
                <a:latin typeface="Agency FB" panose="020B0503020202020204" pitchFamily="34" charset="0"/>
              </a:rPr>
              <a:t>Points for Winning/Accolades &amp; Longevity/SSP: 61 pts</a:t>
            </a:r>
          </a:p>
          <a:p>
            <a:r>
              <a:rPr lang="en-US" sz="2800" b="1" dirty="0">
                <a:latin typeface="Agency FB" panose="020B0503020202020204" pitchFamily="34" charset="0"/>
              </a:rPr>
              <a:t>Impact &amp; Legacy: 30/50</a:t>
            </a:r>
          </a:p>
          <a:p>
            <a:r>
              <a:rPr lang="en-US" sz="2800" b="1" dirty="0">
                <a:latin typeface="Agency FB" panose="020B0503020202020204" pitchFamily="34" charset="0"/>
              </a:rPr>
              <a:t>David Robinson was the first overall pick in the 1987 NBA Draft. He was able to win 2 NBA Titles with Tim Duncan and is another one of the best 2-way big men of all-time. Like 2 other players in the top 20, he won an MVP and DPOY in his prime. </a:t>
            </a:r>
          </a:p>
          <a:p>
            <a:endParaRPr lang="en-US" sz="2800" b="1" dirty="0">
              <a:latin typeface="Agency FB" panose="020B0503020202020204" pitchFamily="34" charset="0"/>
            </a:endParaRPr>
          </a:p>
        </p:txBody>
      </p:sp>
      <p:pic>
        <p:nvPicPr>
          <p:cNvPr id="6" name="Picture 5" descr="A basketball player holding a basketball">
            <a:extLst>
              <a:ext uri="{FF2B5EF4-FFF2-40B4-BE49-F238E27FC236}">
                <a16:creationId xmlns:a16="http://schemas.microsoft.com/office/drawing/2014/main" id="{F1066426-FFFF-CC18-0A49-30419432BB66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749143" y="560614"/>
            <a:ext cx="4603069" cy="5622471"/>
          </a:xfrm>
          <a:prstGeom prst="rect">
            <a:avLst/>
          </a:prstGeom>
          <a:solidFill>
            <a:srgbClr val="FFFFFF">
              <a:shade val="85000"/>
            </a:srgbClr>
          </a:solidFill>
          <a:ln w="190500" cap="sq">
            <a:solidFill>
              <a:srgbClr val="FFFFFF"/>
            </a:solidFill>
            <a:miter lim="800000"/>
          </a:ln>
          <a:effectLst>
            <a:outerShdw blurRad="65000" dist="50800" dir="12900000" kx="195000" ky="145000" algn="tl" rotWithShape="0">
              <a:srgbClr val="000000">
                <a:alpha val="30000"/>
              </a:srgbClr>
            </a:outerShdw>
          </a:effectLst>
          <a:scene3d>
            <a:camera prst="orthographicFront">
              <a:rot lat="0" lon="0" rev="360000"/>
            </a:camera>
            <a:lightRig rig="twoPt" dir="t">
              <a:rot lat="0" lon="0" rev="7200000"/>
            </a:lightRig>
          </a:scene3d>
          <a:sp3d contourW="12700">
            <a:bevelT w="25400" h="19050"/>
            <a:contourClr>
              <a:srgbClr val="969696"/>
            </a:contourClr>
          </a:sp3d>
        </p:spPr>
      </p:pic>
    </p:spTree>
    <p:extLst>
      <p:ext uri="{BB962C8B-B14F-4D97-AF65-F5344CB8AC3E}">
        <p14:creationId xmlns:p14="http://schemas.microsoft.com/office/powerpoint/2010/main" val="1366733127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chemeClr val="bg1"/>
            </a:gs>
            <a:gs pos="27000">
              <a:schemeClr val="bg1">
                <a:lumMod val="75000"/>
              </a:schemeClr>
            </a:gs>
            <a:gs pos="69000">
              <a:schemeClr val="accent6">
                <a:lumMod val="50000"/>
              </a:schemeClr>
            </a:gs>
            <a:gs pos="100000">
              <a:srgbClr val="92D050"/>
            </a:gs>
          </a:gsLst>
          <a:lin ang="5400000" scaled="1"/>
        </a:gra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ABD4A7E6-10C3-FFEA-3FE5-7FFFEE106D1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B4B2626-5AAF-9B1A-88DD-4BDF553AABE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199"/>
            <a:ext cx="3932237" cy="1480457"/>
          </a:xfrm>
        </p:spPr>
        <p:txBody>
          <a:bodyPr anchor="t">
            <a:normAutofit fontScale="90000"/>
          </a:bodyPr>
          <a:lstStyle/>
          <a:p>
            <a:pPr algn="ctr"/>
            <a:r>
              <a:rPr lang="en-US" sz="4000" b="1" dirty="0">
                <a:latin typeface="Agency FB" panose="020B0503020202020204" pitchFamily="34" charset="0"/>
              </a:rPr>
              <a:t>Giannis Antetokounmpo #17</a:t>
            </a:r>
            <a:br>
              <a:rPr lang="en-US" sz="4000" b="1" dirty="0">
                <a:latin typeface="Agency FB" panose="020B0503020202020204" pitchFamily="34" charset="0"/>
              </a:rPr>
            </a:br>
            <a:r>
              <a:rPr lang="en-US" sz="4000" b="1" dirty="0">
                <a:latin typeface="Agency FB" panose="020B0503020202020204" pitchFamily="34" charset="0"/>
              </a:rPr>
              <a:t>147.69 Total Points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1179BE71-F64D-AEDF-7E23-3AD4F22C488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5384774" cy="4343400"/>
          </a:xfrm>
        </p:spPr>
        <p:txBody>
          <a:bodyPr>
            <a:normAutofit/>
          </a:bodyPr>
          <a:lstStyle/>
          <a:p>
            <a:r>
              <a:rPr lang="en-US" sz="2800" b="1" dirty="0">
                <a:latin typeface="Agency FB" panose="020B0503020202020204" pitchFamily="34" charset="0"/>
              </a:rPr>
              <a:t>Points for Career Stats: 52.06 pts</a:t>
            </a:r>
          </a:p>
          <a:p>
            <a:r>
              <a:rPr lang="en-US" sz="2800" b="1" dirty="0">
                <a:latin typeface="Agency FB" panose="020B0503020202020204" pitchFamily="34" charset="0"/>
              </a:rPr>
              <a:t>Points for Winning/Accolades &amp; Longevity/SSP: 56.25 pts</a:t>
            </a:r>
          </a:p>
          <a:p>
            <a:r>
              <a:rPr lang="en-US" sz="2800" b="1" dirty="0">
                <a:latin typeface="Agency FB" panose="020B0503020202020204" pitchFamily="34" charset="0"/>
              </a:rPr>
              <a:t>Impact &amp; Legacy: 35/50</a:t>
            </a:r>
          </a:p>
          <a:p>
            <a:r>
              <a:rPr lang="en-US" sz="2800" b="1" dirty="0">
                <a:latin typeface="Agency FB" panose="020B0503020202020204" pitchFamily="34" charset="0"/>
              </a:rPr>
              <a:t>Giannis is still in his prime. He has made 7 straight All-NBA 1</a:t>
            </a:r>
            <a:r>
              <a:rPr lang="en-US" sz="2800" b="1" baseline="30000" dirty="0">
                <a:latin typeface="Agency FB" panose="020B0503020202020204" pitchFamily="34" charset="0"/>
              </a:rPr>
              <a:t>st</a:t>
            </a:r>
            <a:r>
              <a:rPr lang="en-US" sz="2800" b="1" dirty="0">
                <a:latin typeface="Agency FB" panose="020B0503020202020204" pitchFamily="34" charset="0"/>
              </a:rPr>
              <a:t> teams and is considered a top 3 player in the league for several more years to come. He gets to the Free-Throw line more than any player in the game. </a:t>
            </a:r>
          </a:p>
        </p:txBody>
      </p:sp>
      <p:pic>
        <p:nvPicPr>
          <p:cNvPr id="5" name="Picture 4" descr="A basketball player running on a court">
            <a:extLst>
              <a:ext uri="{FF2B5EF4-FFF2-40B4-BE49-F238E27FC236}">
                <a16:creationId xmlns:a16="http://schemas.microsoft.com/office/drawing/2014/main" id="{D4F64A61-5172-70AC-C42F-113F637A0F88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224031" y="810985"/>
            <a:ext cx="3215367" cy="5236029"/>
          </a:xfrm>
          <a:prstGeom prst="rect">
            <a:avLst/>
          </a:prstGeom>
          <a:solidFill>
            <a:srgbClr val="FFFFFF">
              <a:shade val="85000"/>
            </a:srgbClr>
          </a:solidFill>
          <a:ln w="190500" cap="sq">
            <a:solidFill>
              <a:srgbClr val="FFFFFF"/>
            </a:solidFill>
            <a:miter lim="800000"/>
          </a:ln>
          <a:effectLst>
            <a:outerShdw blurRad="65000" dist="50800" dir="12900000" kx="195000" ky="145000" algn="tl" rotWithShape="0">
              <a:srgbClr val="000000">
                <a:alpha val="30000"/>
              </a:srgbClr>
            </a:outerShdw>
          </a:effectLst>
          <a:scene3d>
            <a:camera prst="orthographicFront">
              <a:rot lat="0" lon="0" rev="360000"/>
            </a:camera>
            <a:lightRig rig="twoPt" dir="t">
              <a:rot lat="0" lon="0" rev="7200000"/>
            </a:lightRig>
          </a:scene3d>
          <a:sp3d contourW="12700">
            <a:bevelT w="25400" h="19050"/>
            <a:contourClr>
              <a:srgbClr val="969696"/>
            </a:contourClr>
          </a:sp3d>
        </p:spPr>
      </p:pic>
    </p:spTree>
    <p:extLst>
      <p:ext uri="{BB962C8B-B14F-4D97-AF65-F5344CB8AC3E}">
        <p14:creationId xmlns:p14="http://schemas.microsoft.com/office/powerpoint/2010/main" val="2402394819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chemeClr val="accent6">
                <a:lumMod val="50000"/>
              </a:schemeClr>
            </a:gs>
            <a:gs pos="25000">
              <a:schemeClr val="accent6">
                <a:lumMod val="75000"/>
              </a:schemeClr>
            </a:gs>
            <a:gs pos="60000">
              <a:schemeClr val="bg2">
                <a:lumMod val="75000"/>
              </a:schemeClr>
            </a:gs>
            <a:gs pos="100000">
              <a:schemeClr val="bg2">
                <a:lumMod val="25000"/>
              </a:schemeClr>
            </a:gs>
          </a:gsLst>
          <a:lin ang="5400000" scaled="1"/>
        </a:gra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3DF3412D-BD92-19F6-B1F6-284003FEC73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76F77EB-DCA6-3F92-31BA-4729D0B08A9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199"/>
            <a:ext cx="3932237" cy="1480457"/>
          </a:xfrm>
        </p:spPr>
        <p:txBody>
          <a:bodyPr anchor="t">
            <a:normAutofit/>
          </a:bodyPr>
          <a:lstStyle/>
          <a:p>
            <a:pPr algn="ctr"/>
            <a:r>
              <a:rPr lang="en-US" sz="4000" b="1" dirty="0">
                <a:latin typeface="Agency FB" panose="020B0503020202020204" pitchFamily="34" charset="0"/>
              </a:rPr>
              <a:t>John Havlicek #18</a:t>
            </a:r>
            <a:br>
              <a:rPr lang="en-US" sz="4000" b="1" dirty="0">
                <a:latin typeface="Agency FB" panose="020B0503020202020204" pitchFamily="34" charset="0"/>
              </a:rPr>
            </a:br>
            <a:r>
              <a:rPr lang="en-US" sz="4000" b="1" dirty="0">
                <a:latin typeface="Agency FB" panose="020B0503020202020204" pitchFamily="34" charset="0"/>
              </a:rPr>
              <a:t>141.66 Total Points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9E45210-79D3-3FE0-66F5-3C9509B9C07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5384774" cy="4343400"/>
          </a:xfrm>
        </p:spPr>
        <p:txBody>
          <a:bodyPr>
            <a:normAutofit/>
          </a:bodyPr>
          <a:lstStyle/>
          <a:p>
            <a:r>
              <a:rPr lang="en-US" sz="2800" b="1" dirty="0">
                <a:latin typeface="Agency FB" panose="020B0503020202020204" pitchFamily="34" charset="0"/>
              </a:rPr>
              <a:t>Points for Career Stats: 36.91 pts</a:t>
            </a:r>
          </a:p>
          <a:p>
            <a:r>
              <a:rPr lang="en-US" sz="2800" b="1" dirty="0">
                <a:latin typeface="Agency FB" panose="020B0503020202020204" pitchFamily="34" charset="0"/>
              </a:rPr>
              <a:t>Points for Winning/Accolades &amp; Longevity/SSP: 80.75 pts</a:t>
            </a:r>
          </a:p>
          <a:p>
            <a:r>
              <a:rPr lang="en-US" sz="2800" b="1" dirty="0">
                <a:latin typeface="Agency FB" panose="020B0503020202020204" pitchFamily="34" charset="0"/>
              </a:rPr>
              <a:t>Impact &amp; Legacy: 24/50</a:t>
            </a:r>
          </a:p>
          <a:p>
            <a:r>
              <a:rPr lang="en-US" sz="2800" b="1" dirty="0">
                <a:latin typeface="Agency FB" panose="020B0503020202020204" pitchFamily="34" charset="0"/>
              </a:rPr>
              <a:t>His stats aren’t as impressive as other players, but John Havlicek slides into the top 20 because he has 8 NBA titles; good for 3</a:t>
            </a:r>
            <a:r>
              <a:rPr lang="en-US" sz="2800" b="1" baseline="30000" dirty="0">
                <a:latin typeface="Agency FB" panose="020B0503020202020204" pitchFamily="34" charset="0"/>
              </a:rPr>
              <a:t>rd</a:t>
            </a:r>
            <a:r>
              <a:rPr lang="en-US" sz="2800" b="1" dirty="0">
                <a:latin typeface="Agency FB" panose="020B0503020202020204" pitchFamily="34" charset="0"/>
              </a:rPr>
              <a:t> all-time</a:t>
            </a:r>
          </a:p>
        </p:txBody>
      </p:sp>
      <p:pic>
        <p:nvPicPr>
          <p:cNvPr id="8" name="Picture 7" descr="A basketball player in a green jersey">
            <a:extLst>
              <a:ext uri="{FF2B5EF4-FFF2-40B4-BE49-F238E27FC236}">
                <a16:creationId xmlns:a16="http://schemas.microsoft.com/office/drawing/2014/main" id="{D98C3222-C32D-4A5C-3330-0A897B8D962F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535511" y="391886"/>
            <a:ext cx="4374469" cy="5910943"/>
          </a:xfrm>
          <a:prstGeom prst="rect">
            <a:avLst/>
          </a:prstGeom>
          <a:solidFill>
            <a:srgbClr val="FFFFFF">
              <a:shade val="85000"/>
            </a:srgbClr>
          </a:solidFill>
          <a:ln w="190500" cap="sq">
            <a:solidFill>
              <a:srgbClr val="FFFFFF"/>
            </a:solidFill>
            <a:miter lim="800000"/>
          </a:ln>
          <a:effectLst>
            <a:outerShdw blurRad="65000" dist="50800" dir="12900000" kx="195000" ky="145000" algn="tl" rotWithShape="0">
              <a:srgbClr val="000000">
                <a:alpha val="30000"/>
              </a:srgbClr>
            </a:outerShdw>
          </a:effectLst>
          <a:scene3d>
            <a:camera prst="orthographicFront">
              <a:rot lat="0" lon="0" rev="360000"/>
            </a:camera>
            <a:lightRig rig="twoPt" dir="t">
              <a:rot lat="0" lon="0" rev="7200000"/>
            </a:lightRig>
          </a:scene3d>
          <a:sp3d contourW="12700">
            <a:bevelT w="25400" h="19050"/>
            <a:contourClr>
              <a:srgbClr val="969696"/>
            </a:contourClr>
          </a:sp3d>
        </p:spPr>
      </p:pic>
    </p:spTree>
    <p:extLst>
      <p:ext uri="{BB962C8B-B14F-4D97-AF65-F5344CB8AC3E}">
        <p14:creationId xmlns:p14="http://schemas.microsoft.com/office/powerpoint/2010/main" val="2704900884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chemeClr val="accent4">
                <a:lumMod val="60000"/>
                <a:lumOff val="40000"/>
              </a:schemeClr>
            </a:gs>
            <a:gs pos="35000">
              <a:schemeClr val="accent4">
                <a:lumMod val="60000"/>
                <a:lumOff val="40000"/>
              </a:schemeClr>
            </a:gs>
            <a:gs pos="68000">
              <a:srgbClr val="0070C0"/>
            </a:gs>
            <a:gs pos="99000">
              <a:schemeClr val="accent1">
                <a:lumMod val="75000"/>
              </a:schemeClr>
            </a:gs>
          </a:gsLst>
          <a:lin ang="5400000" scaled="1"/>
        </a:gra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561BE310-D6D4-1332-E3DF-11F89DD20BA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01C4CB3-78A3-58DD-C29D-C1254AED8F0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7" y="457200"/>
            <a:ext cx="10797041" cy="751115"/>
          </a:xfrm>
        </p:spPr>
        <p:txBody>
          <a:bodyPr anchor="t">
            <a:normAutofit/>
          </a:bodyPr>
          <a:lstStyle/>
          <a:p>
            <a:pPr algn="ctr"/>
            <a:r>
              <a:rPr lang="en-US" sz="4000" b="1" dirty="0">
                <a:latin typeface="Agency FB" panose="020B0503020202020204" pitchFamily="34" charset="0"/>
              </a:rPr>
              <a:t>19-24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F72DD00-B73E-C624-AFB3-DA1E8483B7D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1458686"/>
            <a:ext cx="11123612" cy="4942114"/>
          </a:xfrm>
        </p:spPr>
        <p:txBody>
          <a:bodyPr>
            <a:normAutofit/>
          </a:bodyPr>
          <a:lstStyle/>
          <a:p>
            <a:r>
              <a:rPr lang="en-US" sz="2800" b="1" dirty="0">
                <a:latin typeface="Agency FB" panose="020B0503020202020204" pitchFamily="34" charset="0"/>
              </a:rPr>
              <a:t>19) Karl Malone (141.55 Total Points) </a:t>
            </a:r>
            <a:r>
              <a:rPr lang="en-US" sz="2800" b="1" dirty="0">
                <a:latin typeface="Agency FB" panose="020B0503020202020204" pitchFamily="34" charset="0"/>
                <a:sym typeface="Wingdings" panose="05000000000000000000" pitchFamily="2" charset="2"/>
              </a:rPr>
              <a:t> </a:t>
            </a:r>
            <a:r>
              <a:rPr lang="en-US" sz="2000" b="1" dirty="0">
                <a:latin typeface="Agency FB" panose="020B0503020202020204" pitchFamily="34" charset="0"/>
                <a:sym typeface="Wingdings" panose="05000000000000000000" pitchFamily="2" charset="2"/>
              </a:rPr>
              <a:t>54.55 Statistics/60 Winning &amp; Accolades/27 Legacy &amp; Impact</a:t>
            </a:r>
            <a:endParaRPr lang="en-US" sz="2000" b="1" dirty="0">
              <a:latin typeface="Agency FB" panose="020B0503020202020204" pitchFamily="34" charset="0"/>
            </a:endParaRPr>
          </a:p>
          <a:p>
            <a:r>
              <a:rPr lang="en-US" sz="2800" b="1" dirty="0">
                <a:latin typeface="Agency FB" panose="020B0503020202020204" pitchFamily="34" charset="0"/>
              </a:rPr>
              <a:t>20) Bob Cousy (131.93 Total Points) </a:t>
            </a:r>
            <a:r>
              <a:rPr lang="en-US" sz="2800" b="1" dirty="0">
                <a:latin typeface="Agency FB" panose="020B0503020202020204" pitchFamily="34" charset="0"/>
                <a:sym typeface="Wingdings" panose="05000000000000000000" pitchFamily="2" charset="2"/>
              </a:rPr>
              <a:t> </a:t>
            </a:r>
            <a:r>
              <a:rPr lang="en-US" sz="2000" b="1" dirty="0">
                <a:latin typeface="Agency FB" panose="020B0503020202020204" pitchFamily="34" charset="0"/>
                <a:sym typeface="Wingdings" panose="05000000000000000000" pitchFamily="2" charset="2"/>
              </a:rPr>
              <a:t>37.93 Statistics/74 Winning &amp; Accolades/20 Legacy &amp; Impact</a:t>
            </a:r>
            <a:endParaRPr lang="en-US" sz="2000" b="1" dirty="0">
              <a:latin typeface="Agency FB" panose="020B0503020202020204" pitchFamily="34" charset="0"/>
            </a:endParaRPr>
          </a:p>
          <a:p>
            <a:r>
              <a:rPr lang="en-US" sz="2800" b="1" dirty="0">
                <a:latin typeface="Agency FB" panose="020B0503020202020204" pitchFamily="34" charset="0"/>
              </a:rPr>
              <a:t>21) Moses Malone (130.35 Total Points) </a:t>
            </a:r>
            <a:r>
              <a:rPr lang="en-US" sz="2800" b="1" dirty="0">
                <a:latin typeface="Agency FB" panose="020B0503020202020204" pitchFamily="34" charset="0"/>
                <a:sym typeface="Wingdings" panose="05000000000000000000" pitchFamily="2" charset="2"/>
              </a:rPr>
              <a:t> </a:t>
            </a:r>
            <a:r>
              <a:rPr lang="en-US" sz="2000" b="1" dirty="0">
                <a:latin typeface="Agency FB" panose="020B0503020202020204" pitchFamily="34" charset="0"/>
                <a:sym typeface="Wingdings" panose="05000000000000000000" pitchFamily="2" charset="2"/>
              </a:rPr>
              <a:t>47.1 Statistics/53.25 Winning &amp; Accolades/30 Legacy &amp; Impact</a:t>
            </a:r>
            <a:endParaRPr lang="en-US" sz="2000" b="1" dirty="0">
              <a:latin typeface="Agency FB" panose="020B0503020202020204" pitchFamily="34" charset="0"/>
            </a:endParaRPr>
          </a:p>
          <a:p>
            <a:r>
              <a:rPr lang="en-US" sz="2800" b="1" dirty="0">
                <a:latin typeface="Agency FB" panose="020B0503020202020204" pitchFamily="34" charset="0"/>
              </a:rPr>
              <a:t>22) Oscar Robertson (129.73 Total Points) </a:t>
            </a:r>
            <a:r>
              <a:rPr lang="en-US" sz="2800" b="1" dirty="0">
                <a:latin typeface="Agency FB" panose="020B0503020202020204" pitchFamily="34" charset="0"/>
                <a:sym typeface="Wingdings" panose="05000000000000000000" pitchFamily="2" charset="2"/>
              </a:rPr>
              <a:t> </a:t>
            </a:r>
            <a:r>
              <a:rPr lang="en-US" sz="1800" b="1" dirty="0">
                <a:latin typeface="Agency FB" panose="020B0503020202020204" pitchFamily="34" charset="0"/>
                <a:sym typeface="Wingdings" panose="05000000000000000000" pitchFamily="2" charset="2"/>
              </a:rPr>
              <a:t>46.73 Statistics/ 55 Winning &amp; Accolades/ 28 Legacy &amp; Impact</a:t>
            </a:r>
            <a:endParaRPr lang="en-US" sz="1800" b="1" dirty="0">
              <a:latin typeface="Agency FB" panose="020B0503020202020204" pitchFamily="34" charset="0"/>
            </a:endParaRPr>
          </a:p>
          <a:p>
            <a:r>
              <a:rPr lang="en-US" sz="2800" b="1" dirty="0">
                <a:latin typeface="Agency FB" panose="020B0503020202020204" pitchFamily="34" charset="0"/>
              </a:rPr>
              <a:t>23) Allen Iverson (129.48 Total Points) </a:t>
            </a:r>
            <a:r>
              <a:rPr lang="en-US" sz="2800" b="1" dirty="0">
                <a:latin typeface="Agency FB" panose="020B0503020202020204" pitchFamily="34" charset="0"/>
                <a:sym typeface="Wingdings" panose="05000000000000000000" pitchFamily="2" charset="2"/>
              </a:rPr>
              <a:t> </a:t>
            </a:r>
            <a:r>
              <a:rPr lang="en-US" sz="1800" b="1" dirty="0">
                <a:latin typeface="Agency FB" panose="020B0503020202020204" pitchFamily="34" charset="0"/>
                <a:sym typeface="Wingdings" panose="05000000000000000000" pitchFamily="2" charset="2"/>
              </a:rPr>
              <a:t>49.73 Statistics/ 35.75 Winning &amp; Accolades/ 44 Legacy &amp; Impact</a:t>
            </a:r>
            <a:endParaRPr lang="en-US" sz="1800" b="1" dirty="0">
              <a:latin typeface="Agency FB" panose="020B0503020202020204" pitchFamily="34" charset="0"/>
            </a:endParaRPr>
          </a:p>
          <a:p>
            <a:r>
              <a:rPr lang="en-US" sz="2800" b="1" dirty="0">
                <a:latin typeface="Agency FB" panose="020B0503020202020204" pitchFamily="34" charset="0"/>
              </a:rPr>
              <a:t>24) Chris Paul (126.26 Total Points) </a:t>
            </a:r>
            <a:r>
              <a:rPr lang="en-US" sz="2800" b="1" dirty="0">
                <a:latin typeface="Agency FB" panose="020B0503020202020204" pitchFamily="34" charset="0"/>
                <a:sym typeface="Wingdings" panose="05000000000000000000" pitchFamily="2" charset="2"/>
              </a:rPr>
              <a:t> </a:t>
            </a:r>
            <a:r>
              <a:rPr lang="en-US" sz="2000" b="1" dirty="0">
                <a:latin typeface="Agency FB" panose="020B0503020202020204" pitchFamily="34" charset="0"/>
                <a:sym typeface="Wingdings" panose="05000000000000000000" pitchFamily="2" charset="2"/>
              </a:rPr>
              <a:t>42.76 Statistics/58.5 Winning &amp; Accolades/ 25 Legacy &amp; Impact</a:t>
            </a:r>
            <a:endParaRPr lang="en-US" sz="2000" b="1" dirty="0">
              <a:latin typeface="Agency FB" panose="020B0503020202020204" pitchFamily="34" charset="0"/>
            </a:endParaRPr>
          </a:p>
          <a:p>
            <a:endParaRPr lang="en-US" sz="2800" b="1" dirty="0">
              <a:latin typeface="Agency FB" panose="020B0503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036092240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chemeClr val="accent4">
                <a:lumMod val="60000"/>
                <a:lumOff val="40000"/>
              </a:schemeClr>
            </a:gs>
            <a:gs pos="35000">
              <a:schemeClr val="accent4">
                <a:lumMod val="60000"/>
                <a:lumOff val="40000"/>
              </a:schemeClr>
            </a:gs>
            <a:gs pos="68000">
              <a:srgbClr val="0070C0"/>
            </a:gs>
            <a:gs pos="99000">
              <a:schemeClr val="accent1">
                <a:lumMod val="75000"/>
              </a:schemeClr>
            </a:gs>
          </a:gsLst>
          <a:lin ang="5400000" scaled="1"/>
        </a:gra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70DED02C-BCA5-1820-C549-BE141C6844C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E53C989-4594-22AA-450F-7ACA1A4A9BA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7" y="457200"/>
            <a:ext cx="10797041" cy="751115"/>
          </a:xfrm>
        </p:spPr>
        <p:txBody>
          <a:bodyPr anchor="t">
            <a:normAutofit/>
          </a:bodyPr>
          <a:lstStyle/>
          <a:p>
            <a:pPr algn="ctr"/>
            <a:r>
              <a:rPr lang="en-US" sz="4000" b="1" dirty="0">
                <a:latin typeface="Agency FB" panose="020B0503020202020204" pitchFamily="34" charset="0"/>
              </a:rPr>
              <a:t>25-32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C2DAAB2-9CD0-F745-2EAF-5D12770116E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1458686"/>
            <a:ext cx="11123612" cy="4942114"/>
          </a:xfrm>
        </p:spPr>
        <p:txBody>
          <a:bodyPr>
            <a:normAutofit/>
          </a:bodyPr>
          <a:lstStyle/>
          <a:p>
            <a:r>
              <a:rPr lang="en-US" sz="2800" b="1" dirty="0">
                <a:latin typeface="Agency FB" panose="020B0503020202020204" pitchFamily="34" charset="0"/>
              </a:rPr>
              <a:t>25) Nikola Jokic (125.7 Total Points) </a:t>
            </a:r>
            <a:r>
              <a:rPr lang="en-US" sz="2800" b="1" dirty="0">
                <a:latin typeface="Agency FB" panose="020B0503020202020204" pitchFamily="34" charset="0"/>
                <a:sym typeface="Wingdings" panose="05000000000000000000" pitchFamily="2" charset="2"/>
              </a:rPr>
              <a:t> </a:t>
            </a:r>
            <a:r>
              <a:rPr lang="en-US" sz="2000" b="1" dirty="0">
                <a:latin typeface="Agency FB" panose="020B0503020202020204" pitchFamily="34" charset="0"/>
                <a:sym typeface="Wingdings" panose="05000000000000000000" pitchFamily="2" charset="2"/>
              </a:rPr>
              <a:t>52.45 Statistics/43.25 Winning &amp; Accolades/30 Legacy &amp; Impact</a:t>
            </a:r>
            <a:endParaRPr lang="en-US" sz="2000" b="1" dirty="0">
              <a:latin typeface="Agency FB" panose="020B0503020202020204" pitchFamily="34" charset="0"/>
            </a:endParaRPr>
          </a:p>
          <a:p>
            <a:r>
              <a:rPr lang="en-US" sz="2800" b="1" dirty="0">
                <a:latin typeface="Agency FB" panose="020B0503020202020204" pitchFamily="34" charset="0"/>
              </a:rPr>
              <a:t>26) Gary Payton (119.42 Total Points) </a:t>
            </a:r>
            <a:r>
              <a:rPr lang="en-US" sz="2800" b="1" dirty="0">
                <a:latin typeface="Agency FB" panose="020B0503020202020204" pitchFamily="34" charset="0"/>
                <a:sym typeface="Wingdings" panose="05000000000000000000" pitchFamily="2" charset="2"/>
              </a:rPr>
              <a:t> </a:t>
            </a:r>
            <a:r>
              <a:rPr lang="en-US" sz="2000" b="1" dirty="0">
                <a:latin typeface="Agency FB" panose="020B0503020202020204" pitchFamily="34" charset="0"/>
                <a:sym typeface="Wingdings" panose="05000000000000000000" pitchFamily="2" charset="2"/>
              </a:rPr>
              <a:t>38.67 Statistics/38.25 Winning &amp; Accolades/37 Legacy &amp; Impact</a:t>
            </a:r>
            <a:endParaRPr lang="en-US" sz="2000" b="1" dirty="0">
              <a:latin typeface="Agency FB" panose="020B0503020202020204" pitchFamily="34" charset="0"/>
            </a:endParaRPr>
          </a:p>
          <a:p>
            <a:r>
              <a:rPr lang="en-US" sz="2800" b="1" dirty="0">
                <a:latin typeface="Agency FB" panose="020B0503020202020204" pitchFamily="34" charset="0"/>
              </a:rPr>
              <a:t>27) Dwyane Wade (119.35 Total Points) </a:t>
            </a:r>
            <a:r>
              <a:rPr lang="en-US" sz="2800" b="1" dirty="0">
                <a:latin typeface="Agency FB" panose="020B0503020202020204" pitchFamily="34" charset="0"/>
                <a:sym typeface="Wingdings" panose="05000000000000000000" pitchFamily="2" charset="2"/>
              </a:rPr>
              <a:t> </a:t>
            </a:r>
            <a:r>
              <a:rPr lang="en-US" sz="2000" b="1" dirty="0">
                <a:latin typeface="Agency FB" panose="020B0503020202020204" pitchFamily="34" charset="0"/>
                <a:sym typeface="Wingdings" panose="05000000000000000000" pitchFamily="2" charset="2"/>
              </a:rPr>
              <a:t>44.1 Statistics/53.25 Winning &amp; Accolades/30 Legacy &amp; Impact</a:t>
            </a:r>
            <a:endParaRPr lang="en-US" sz="2000" b="1" dirty="0">
              <a:latin typeface="Agency FB" panose="020B0503020202020204" pitchFamily="34" charset="0"/>
            </a:endParaRPr>
          </a:p>
          <a:p>
            <a:r>
              <a:rPr lang="en-US" sz="2800" b="1" dirty="0">
                <a:latin typeface="Agency FB" panose="020B0503020202020204" pitchFamily="34" charset="0"/>
              </a:rPr>
              <a:t>28) Jason Kidd (117.5 Total Points) </a:t>
            </a:r>
            <a:r>
              <a:rPr lang="en-US" sz="2800" b="1" dirty="0">
                <a:latin typeface="Agency FB" panose="020B0503020202020204" pitchFamily="34" charset="0"/>
                <a:sym typeface="Wingdings" panose="05000000000000000000" pitchFamily="2" charset="2"/>
              </a:rPr>
              <a:t> </a:t>
            </a:r>
            <a:r>
              <a:rPr lang="en-US" sz="1800" b="1" dirty="0">
                <a:latin typeface="Agency FB" panose="020B0503020202020204" pitchFamily="34" charset="0"/>
                <a:sym typeface="Wingdings" panose="05000000000000000000" pitchFamily="2" charset="2"/>
              </a:rPr>
              <a:t>41 Statistics/ 44.5 Winning &amp; Accolades/ 32 Legacy &amp; Impact</a:t>
            </a:r>
            <a:endParaRPr lang="en-US" sz="1800" b="1" dirty="0">
              <a:latin typeface="Agency FB" panose="020B0503020202020204" pitchFamily="34" charset="0"/>
            </a:endParaRPr>
          </a:p>
          <a:p>
            <a:r>
              <a:rPr lang="en-US" sz="2800" b="1" dirty="0">
                <a:latin typeface="Agency FB" panose="020B0503020202020204" pitchFamily="34" charset="0"/>
              </a:rPr>
              <a:t>29) Dirk Nowitzki (106.59 Total Points) </a:t>
            </a:r>
            <a:r>
              <a:rPr lang="en-US" sz="2800" b="1" dirty="0">
                <a:latin typeface="Agency FB" panose="020B0503020202020204" pitchFamily="34" charset="0"/>
                <a:sym typeface="Wingdings" panose="05000000000000000000" pitchFamily="2" charset="2"/>
              </a:rPr>
              <a:t> </a:t>
            </a:r>
            <a:r>
              <a:rPr lang="en-US" sz="1800" b="1" dirty="0">
                <a:latin typeface="Agency FB" panose="020B0503020202020204" pitchFamily="34" charset="0"/>
                <a:sym typeface="Wingdings" panose="05000000000000000000" pitchFamily="2" charset="2"/>
              </a:rPr>
              <a:t>44.09 Statistics/ 35.75 Winning &amp; Accolades/ 44 Legacy &amp; Impact</a:t>
            </a:r>
            <a:endParaRPr lang="en-US" sz="1800" b="1" dirty="0">
              <a:latin typeface="Agency FB" panose="020B0503020202020204" pitchFamily="34" charset="0"/>
            </a:endParaRPr>
          </a:p>
          <a:p>
            <a:r>
              <a:rPr lang="en-US" sz="2800" b="1" dirty="0">
                <a:latin typeface="Agency FB" panose="020B0503020202020204" pitchFamily="34" charset="0"/>
              </a:rPr>
              <a:t>24) Isiah Thomas (105.41 Total Points) </a:t>
            </a:r>
            <a:r>
              <a:rPr lang="en-US" sz="2800" b="1" dirty="0">
                <a:latin typeface="Agency FB" panose="020B0503020202020204" pitchFamily="34" charset="0"/>
                <a:sym typeface="Wingdings" panose="05000000000000000000" pitchFamily="2" charset="2"/>
              </a:rPr>
              <a:t> </a:t>
            </a:r>
            <a:r>
              <a:rPr lang="en-US" sz="2000" b="1" dirty="0">
                <a:latin typeface="Agency FB" panose="020B0503020202020204" pitchFamily="34" charset="0"/>
                <a:sym typeface="Wingdings" panose="05000000000000000000" pitchFamily="2" charset="2"/>
              </a:rPr>
              <a:t>40.41 Statistics/30 Winning &amp; Accolades/ 35 Legacy &amp; Impact</a:t>
            </a:r>
          </a:p>
          <a:p>
            <a:r>
              <a:rPr lang="en-US" sz="2800" b="1" dirty="0">
                <a:latin typeface="Agency FB" panose="020B0503020202020204" pitchFamily="34" charset="0"/>
                <a:sym typeface="Wingdings" panose="05000000000000000000" pitchFamily="2" charset="2"/>
              </a:rPr>
              <a:t>31) John Stockton (104.79 Total Points)  </a:t>
            </a:r>
            <a:r>
              <a:rPr lang="en-US" sz="2000" b="1" dirty="0">
                <a:latin typeface="Agency FB" panose="020B0503020202020204" pitchFamily="34" charset="0"/>
                <a:sym typeface="Wingdings" panose="05000000000000000000" pitchFamily="2" charset="2"/>
              </a:rPr>
              <a:t>35.79 Statistics/ 41 Winning &amp; Accolades/ 28 Legacy &amp; Impact</a:t>
            </a:r>
            <a:endParaRPr lang="en-US" sz="2000" b="1" dirty="0">
              <a:latin typeface="Agency FB" panose="020B0503020202020204" pitchFamily="34" charset="0"/>
            </a:endParaRPr>
          </a:p>
          <a:p>
            <a:r>
              <a:rPr lang="en-US" sz="2800" b="1" dirty="0">
                <a:latin typeface="Agency FB" panose="020B0503020202020204" pitchFamily="34" charset="0"/>
              </a:rPr>
              <a:t>32) Dominique Wilkins (95.08 Total Points) </a:t>
            </a:r>
            <a:r>
              <a:rPr lang="en-US" sz="2800" b="1" dirty="0">
                <a:latin typeface="Agency FB" panose="020B0503020202020204" pitchFamily="34" charset="0"/>
                <a:sym typeface="Wingdings" panose="05000000000000000000" pitchFamily="2" charset="2"/>
              </a:rPr>
              <a:t></a:t>
            </a:r>
            <a:r>
              <a:rPr lang="en-US" sz="1800" b="1" dirty="0">
                <a:latin typeface="Agency FB" panose="020B0503020202020204" pitchFamily="34" charset="0"/>
                <a:sym typeface="Wingdings" panose="05000000000000000000" pitchFamily="2" charset="2"/>
              </a:rPr>
              <a:t> 44.83 Statistics / 17.25 Winning &amp; Accolades/ 34 Legacy &amp; Impact</a:t>
            </a:r>
            <a:endParaRPr lang="en-US" sz="1800" b="1" dirty="0">
              <a:latin typeface="Agency FB" panose="020B0503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22954775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232</TotalTime>
  <Words>2286</Words>
  <Application>Microsoft Office PowerPoint</Application>
  <PresentationFormat>Widescreen</PresentationFormat>
  <Paragraphs>157</Paragraphs>
  <Slides>25</Slides>
  <Notes>14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25</vt:i4>
      </vt:variant>
    </vt:vector>
  </HeadingPairs>
  <TitlesOfParts>
    <vt:vector size="30" baseType="lpstr">
      <vt:lpstr>Agency FB</vt:lpstr>
      <vt:lpstr>Aptos</vt:lpstr>
      <vt:lpstr>Aptos Display</vt:lpstr>
      <vt:lpstr>Arial</vt:lpstr>
      <vt:lpstr>Office Theme</vt:lpstr>
      <vt:lpstr>2025 NBA All Time Player List</vt:lpstr>
      <vt:lpstr>Summary of Criteria Winning And Accolades: NBA Championships, NBA MVP, NBA Finals MVP, Rookie of the Year, Defensive Player of the Year, Regular Season Winning Pct, Playoffs Winning Pct.  Statistics: Points Per Game, Rebounds Per Game, Assists Per Game, Steals Per Game, Blocks Per Game, All-Time Stat Leaders (Top 5 All-Time)   Longevity &amp; Sustained Superior Performance:  All-NBA 1st, 2nd &amp; 3rd Team, All-Defense 1st &amp; 2nd Team, Scoring Title, Rebounding Title, Assists Title, Steals Title, Blocks Title  Legacy &amp; Impact:  Subjective Score from a Scale of 0 through 50 to guage the overall impact that the player had on the sport of basketball (both on &amp; off the court). This can include: Cultural, Style of Play/Rules, Generational Impact etc. </vt:lpstr>
      <vt:lpstr>Breakdown of Criteria: Winning &amp; Accolades</vt:lpstr>
      <vt:lpstr>Breakdown of Criteria: Statistics</vt:lpstr>
      <vt:lpstr>Breakdown of Criteria: Longevity + Sustained Superior Performance</vt:lpstr>
      <vt:lpstr>Michael Jordan #1  250.28 Total Points</vt:lpstr>
      <vt:lpstr>Kareem Abdul-Jabbar #2  233.04 Total Points</vt:lpstr>
      <vt:lpstr>LeBron James #3  226.39 Total Points</vt:lpstr>
      <vt:lpstr>Bill Russell #4  202.35 Total Points</vt:lpstr>
      <vt:lpstr>Kobe Bryant #5  200.04 Total Points</vt:lpstr>
      <vt:lpstr>Wilt Chamberlain #6  195.28 Total Points</vt:lpstr>
      <vt:lpstr>Tim Duncan #7  195.28 Total Points</vt:lpstr>
      <vt:lpstr>Magic Johnson #8  184.13 Total Points</vt:lpstr>
      <vt:lpstr>Larry Bird #9  179.22 Total Points</vt:lpstr>
      <vt:lpstr>Shaquille O’Neal #10 174.43 Total Points</vt:lpstr>
      <vt:lpstr>Hakeem Olajuwan #11 158.64 Total Points</vt:lpstr>
      <vt:lpstr>Stephen Curry #12 157.72 Total Points</vt:lpstr>
      <vt:lpstr>Julius Erving #13 152.18 Total Points</vt:lpstr>
      <vt:lpstr>Jerry West #14 148.84 Total Points</vt:lpstr>
      <vt:lpstr>Kevin Garnett #15 147.69 Total Points</vt:lpstr>
      <vt:lpstr>David Robinson #16 144.32 Total Points</vt:lpstr>
      <vt:lpstr>Giannis Antetokounmpo #17 147.69 Total Points</vt:lpstr>
      <vt:lpstr>John Havlicek #18 141.66 Total Points</vt:lpstr>
      <vt:lpstr>19-24</vt:lpstr>
      <vt:lpstr>25-32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Nate Richardson</dc:creator>
  <cp:lastModifiedBy>Nate Richardson</cp:lastModifiedBy>
  <cp:revision>1</cp:revision>
  <dcterms:created xsi:type="dcterms:W3CDTF">2025-08-10T19:21:35Z</dcterms:created>
  <dcterms:modified xsi:type="dcterms:W3CDTF">2025-08-15T01:27:54Z</dcterms:modified>
</cp:coreProperties>
</file>